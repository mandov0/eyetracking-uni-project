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257" r:id="rId6"/>
    <p:sldId id="258" r:id="rId7"/>
    <p:sldId id="259" r:id="rId8"/>
    <p:sldId id="260" r:id="rId9"/>
    <p:sldId id="261" r:id="rId10"/>
    <p:sldId id="270" r:id="rId11"/>
    <p:sldId id="262" r:id="rId12"/>
    <p:sldId id="263" r:id="rId13"/>
    <p:sldId id="271" r:id="rId14"/>
    <p:sldId id="264" r:id="rId15"/>
    <p:sldId id="265" r:id="rId16"/>
    <p:sldId id="267" r:id="rId17"/>
    <p:sldId id="266" r:id="rId18"/>
    <p:sldId id="268" r:id="rId19"/>
    <p:sldId id="269"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1FDF74-9915-450F-95CB-68F806A9DD8D}" v="29" dt="2026-01-22T20:57:19.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62712" autoAdjust="0"/>
  </p:normalViewPr>
  <p:slideViewPr>
    <p:cSldViewPr snapToGrid="0">
      <p:cViewPr varScale="1">
        <p:scale>
          <a:sx n="60" d="100"/>
          <a:sy n="60" d="100"/>
        </p:scale>
        <p:origin x="12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748540-43F0-40FA-84F4-0A0ED2C1CECD}" type="datetimeFigureOut">
              <a:rPr lang="de-DE" smtClean="0"/>
              <a:t>23.01.2026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634F83-ED6B-47E9-9621-34DEC243B584}" type="slidenum">
              <a:rPr lang="de-DE" smtClean="0"/>
              <a:t>‹Nr.›</a:t>
            </a:fld>
            <a:endParaRPr lang="de-DE"/>
          </a:p>
        </p:txBody>
      </p:sp>
    </p:spTree>
    <p:extLst>
      <p:ext uri="{BB962C8B-B14F-4D97-AF65-F5344CB8AC3E}">
        <p14:creationId xmlns:p14="http://schemas.microsoft.com/office/powerpoint/2010/main" val="4074390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Hallo, mein Name ist Burak </a:t>
            </a:r>
            <a:r>
              <a:rPr lang="de-DE" sz="1200" kern="1200" dirty="0" err="1">
                <a:solidFill>
                  <a:schemeClr val="tx1"/>
                </a:solidFill>
                <a:effectLst/>
                <a:latin typeface="+mn-lt"/>
                <a:ea typeface="+mn-ea"/>
                <a:cs typeface="+mn-cs"/>
              </a:rPr>
              <a:t>Güldüz</a:t>
            </a:r>
            <a:r>
              <a:rPr lang="de-DE" sz="1200" kern="1200" dirty="0">
                <a:solidFill>
                  <a:schemeClr val="tx1"/>
                </a:solidFill>
                <a:effectLst/>
                <a:latin typeface="+mn-lt"/>
                <a:ea typeface="+mn-ea"/>
                <a:cs typeface="+mn-cs"/>
              </a:rPr>
              <a:t> und ich präsentiere euch heute mein Projekt zur automatischen Klassifikation von Fahrerzuständen. Das Ziel ist, mit Eye-Tracking und Sensordaten die Aufmerksamkeit eines Fahrers in Echtzeit zu erkennen, ob er aufmerksam ist, abgelenkt oder aggressiv fährt. Und das ganz ohne manuelles Labeln der Daten.</a:t>
            </a:r>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1</a:t>
            </a:fld>
            <a:endParaRPr lang="de-DE"/>
          </a:p>
        </p:txBody>
      </p:sp>
    </p:spTree>
    <p:extLst>
      <p:ext uri="{BB962C8B-B14F-4D97-AF65-F5344CB8AC3E}">
        <p14:creationId xmlns:p14="http://schemas.microsoft.com/office/powerpoint/2010/main" val="3833078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Warum ist das wichtig? Die World Health </a:t>
            </a:r>
            <a:r>
              <a:rPr lang="de-DE" sz="1200" kern="1200" dirty="0" err="1">
                <a:solidFill>
                  <a:schemeClr val="tx1"/>
                </a:solidFill>
                <a:effectLst/>
                <a:latin typeface="+mn-lt"/>
                <a:ea typeface="+mn-ea"/>
                <a:cs typeface="+mn-cs"/>
              </a:rPr>
              <a:t>Organization</a:t>
            </a:r>
            <a:r>
              <a:rPr lang="de-DE" sz="1200" kern="1200" dirty="0">
                <a:solidFill>
                  <a:schemeClr val="tx1"/>
                </a:solidFill>
                <a:effectLst/>
                <a:latin typeface="+mn-lt"/>
                <a:ea typeface="+mn-ea"/>
                <a:cs typeface="+mn-cs"/>
              </a:rPr>
              <a:t> zeigt das 94 Prozent aller Verkehrsunfälle durch menschliches Fehlverhalten entstehen. Das ist ein enormes Sicherheitsrisiko. Moderne Fahrzeuge wie </a:t>
            </a:r>
            <a:r>
              <a:rPr lang="de-DE" sz="1200" kern="1200" dirty="0" err="1">
                <a:solidFill>
                  <a:schemeClr val="tx1"/>
                </a:solidFill>
                <a:effectLst/>
                <a:latin typeface="+mn-lt"/>
                <a:ea typeface="+mn-ea"/>
                <a:cs typeface="+mn-cs"/>
              </a:rPr>
              <a:t>z.B</a:t>
            </a:r>
            <a:r>
              <a:rPr lang="de-DE" sz="1200" kern="1200" dirty="0">
                <a:solidFill>
                  <a:schemeClr val="tx1"/>
                </a:solidFill>
                <a:effectLst/>
                <a:latin typeface="+mn-lt"/>
                <a:ea typeface="+mn-ea"/>
                <a:cs typeface="+mn-cs"/>
              </a:rPr>
              <a:t> der Tesla Autopilot nutzen noch sehr primitive Methoden mit nur Drucksensoren im Lenkrad zur Aufmerksamkeitserkennung. Das funktioniert überhaupt nicht, wenn ein Fahrer mit einer Hand lenkt und gleichzeitig auf sein Handy schaut.</a:t>
            </a:r>
          </a:p>
          <a:p>
            <a:r>
              <a:rPr lang="de-DE" sz="1200" kern="1200" dirty="0">
                <a:solidFill>
                  <a:schemeClr val="tx1"/>
                </a:solidFill>
                <a:effectLst/>
                <a:latin typeface="+mn-lt"/>
                <a:ea typeface="+mn-ea"/>
                <a:cs typeface="+mn-cs"/>
              </a:rPr>
              <a:t>Unser Problem ist wir haben Sensordaten aus dem VTI-Fahrsimulator. Unter anderem Fahrzeugdynamik, Eye-Tracking und sogar die Herzrate.</a:t>
            </a:r>
          </a:p>
          <a:p>
            <a:r>
              <a:rPr lang="de-DE" sz="1200" kern="1200" dirty="0">
                <a:solidFill>
                  <a:schemeClr val="tx1"/>
                </a:solidFill>
                <a:effectLst/>
                <a:latin typeface="+mn-lt"/>
                <a:ea typeface="+mn-ea"/>
                <a:cs typeface="+mn-cs"/>
              </a:rPr>
              <a:t>Aber: Keine einzigen Labels für die Ground-Truth zum trainieren. Die zentrale Herausforderung war also wie generieren wir gute Labels</a:t>
            </a:r>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2</a:t>
            </a:fld>
            <a:endParaRPr lang="de-DE"/>
          </a:p>
        </p:txBody>
      </p:sp>
    </p:spTree>
    <p:extLst>
      <p:ext uri="{BB962C8B-B14F-4D97-AF65-F5344CB8AC3E}">
        <p14:creationId xmlns:p14="http://schemas.microsoft.com/office/powerpoint/2010/main" val="407371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Unsere Lösung basiert auf vier Säulen.</a:t>
            </a:r>
          </a:p>
          <a:p>
            <a:r>
              <a:rPr lang="de-DE" sz="1200" kern="1200" dirty="0">
                <a:solidFill>
                  <a:schemeClr val="tx1"/>
                </a:solidFill>
                <a:effectLst/>
                <a:latin typeface="+mn-lt"/>
                <a:ea typeface="+mn-ea"/>
                <a:cs typeface="+mn-cs"/>
              </a:rPr>
              <a:t>Erstens: Absolute Threshold </a:t>
            </a:r>
            <a:r>
              <a:rPr lang="de-DE" sz="1200" kern="1200" dirty="0" err="1">
                <a:solidFill>
                  <a:schemeClr val="tx1"/>
                </a:solidFill>
                <a:effectLst/>
                <a:latin typeface="+mn-lt"/>
                <a:ea typeface="+mn-ea"/>
                <a:cs typeface="+mn-cs"/>
              </a:rPr>
              <a:t>Labeling</a:t>
            </a:r>
            <a:r>
              <a:rPr lang="de-DE" sz="1200" kern="1200" dirty="0">
                <a:solidFill>
                  <a:schemeClr val="tx1"/>
                </a:solidFill>
                <a:effectLst/>
                <a:latin typeface="+mn-lt"/>
                <a:ea typeface="+mn-ea"/>
                <a:cs typeface="+mn-cs"/>
              </a:rPr>
              <a:t>. Wir nutzen nicht relative Perzentile pro Fahrt, das würde zu </a:t>
            </a:r>
            <a:r>
              <a:rPr lang="de-DE" sz="1200" kern="1200" dirty="0" err="1">
                <a:solidFill>
                  <a:schemeClr val="tx1"/>
                </a:solidFill>
                <a:effectLst/>
                <a:latin typeface="+mn-lt"/>
                <a:ea typeface="+mn-ea"/>
                <a:cs typeface="+mn-cs"/>
              </a:rPr>
              <a:t>sessionabhängigen</a:t>
            </a:r>
            <a:r>
              <a:rPr lang="de-DE" sz="1200" kern="1200" dirty="0">
                <a:solidFill>
                  <a:schemeClr val="tx1"/>
                </a:solidFill>
                <a:effectLst/>
                <a:latin typeface="+mn-lt"/>
                <a:ea typeface="+mn-ea"/>
                <a:cs typeface="+mn-cs"/>
              </a:rPr>
              <a:t> Definitionen führen. Stattdessen verwenden wir globale, </a:t>
            </a:r>
            <a:r>
              <a:rPr lang="de-DE" sz="1200" kern="1200" dirty="0" err="1">
                <a:solidFill>
                  <a:schemeClr val="tx1"/>
                </a:solidFill>
                <a:effectLst/>
                <a:latin typeface="+mn-lt"/>
                <a:ea typeface="+mn-ea"/>
                <a:cs typeface="+mn-cs"/>
              </a:rPr>
              <a:t>Thresholds</a:t>
            </a:r>
            <a:r>
              <a:rPr lang="de-DE" sz="1200" kern="1200" dirty="0">
                <a:solidFill>
                  <a:schemeClr val="tx1"/>
                </a:solidFill>
                <a:effectLst/>
                <a:latin typeface="+mn-lt"/>
                <a:ea typeface="+mn-ea"/>
                <a:cs typeface="+mn-cs"/>
              </a:rPr>
              <a:t>. Ein hoher </a:t>
            </a:r>
            <a:r>
              <a:rPr lang="de-DE" sz="1200" kern="1200" dirty="0" err="1">
                <a:solidFill>
                  <a:schemeClr val="tx1"/>
                </a:solidFill>
                <a:effectLst/>
                <a:latin typeface="+mn-lt"/>
                <a:ea typeface="+mn-ea"/>
                <a:cs typeface="+mn-cs"/>
              </a:rPr>
              <a:t>Jerk</a:t>
            </a:r>
            <a:r>
              <a:rPr lang="de-DE" sz="1200" kern="1200" dirty="0">
                <a:solidFill>
                  <a:schemeClr val="tx1"/>
                </a:solidFill>
                <a:effectLst/>
                <a:latin typeface="+mn-lt"/>
                <a:ea typeface="+mn-ea"/>
                <a:cs typeface="+mn-cs"/>
              </a:rPr>
              <a:t> von z.B. 5 Meter pro Sekunde bedeutet das Gleiche für jeden Fahrer, in jeder Fahr </a:t>
            </a:r>
            <a:r>
              <a:rPr lang="de-DE" sz="1200" kern="1200" dirty="0" err="1">
                <a:solidFill>
                  <a:schemeClr val="tx1"/>
                </a:solidFill>
                <a:effectLst/>
                <a:latin typeface="+mn-lt"/>
                <a:ea typeface="+mn-ea"/>
                <a:cs typeface="+mn-cs"/>
              </a:rPr>
              <a:t>session</a:t>
            </a:r>
            <a:r>
              <a:rPr lang="de-DE" sz="1200" kern="1200" dirty="0">
                <a:solidFill>
                  <a:schemeClr val="tx1"/>
                </a:solidFill>
                <a:effectLst/>
                <a:latin typeface="+mn-lt"/>
                <a:ea typeface="+mn-ea"/>
                <a:cs typeface="+mn-cs"/>
              </a:rPr>
              <a:t>.</a:t>
            </a:r>
          </a:p>
          <a:p>
            <a:r>
              <a:rPr lang="de-DE" sz="1200" kern="1200" dirty="0">
                <a:solidFill>
                  <a:schemeClr val="tx1"/>
                </a:solidFill>
                <a:effectLst/>
                <a:latin typeface="+mn-lt"/>
                <a:ea typeface="+mn-ea"/>
                <a:cs typeface="+mn-cs"/>
              </a:rPr>
              <a:t>Zweitens: Temporal </a:t>
            </a:r>
            <a:r>
              <a:rPr lang="de-DE" sz="1200" kern="1200" dirty="0" err="1">
                <a:solidFill>
                  <a:schemeClr val="tx1"/>
                </a:solidFill>
                <a:effectLst/>
                <a:latin typeface="+mn-lt"/>
                <a:ea typeface="+mn-ea"/>
                <a:cs typeface="+mn-cs"/>
              </a:rPr>
              <a:t>Persistence</a:t>
            </a:r>
            <a:r>
              <a:rPr lang="de-DE" sz="1200" kern="1200" dirty="0">
                <a:solidFill>
                  <a:schemeClr val="tx1"/>
                </a:solidFill>
                <a:effectLst/>
                <a:latin typeface="+mn-lt"/>
                <a:ea typeface="+mn-ea"/>
                <a:cs typeface="+mn-cs"/>
              </a:rPr>
              <a:t>. Wir glätten kurzzeitige Spikes mit einem 2-Sekunden-Fenster, damit einzelne Rauschpunkte nicht zu </a:t>
            </a:r>
            <a:r>
              <a:rPr lang="de-DE" sz="1200" kern="1200" dirty="0" err="1">
                <a:solidFill>
                  <a:schemeClr val="tx1"/>
                </a:solidFill>
                <a:effectLst/>
                <a:latin typeface="+mn-lt"/>
                <a:ea typeface="+mn-ea"/>
                <a:cs typeface="+mn-cs"/>
              </a:rPr>
              <a:t>Labeling</a:t>
            </a:r>
            <a:r>
              <a:rPr lang="de-DE" sz="1200" kern="1200" dirty="0">
                <a:solidFill>
                  <a:schemeClr val="tx1"/>
                </a:solidFill>
                <a:effectLst/>
                <a:latin typeface="+mn-lt"/>
                <a:ea typeface="+mn-ea"/>
                <a:cs typeface="+mn-cs"/>
              </a:rPr>
              <a:t>-Flackern führen. </a:t>
            </a:r>
          </a:p>
          <a:p>
            <a:r>
              <a:rPr lang="de-DE" sz="1200" kern="1200" dirty="0">
                <a:solidFill>
                  <a:schemeClr val="tx1"/>
                </a:solidFill>
                <a:effectLst/>
                <a:latin typeface="+mn-lt"/>
                <a:ea typeface="+mn-ea"/>
                <a:cs typeface="+mn-cs"/>
              </a:rPr>
              <a:t>Drittens: Ist die Feature-Fusion. Wir kombinieren 37 Features aus drei Modalitäten und zwar die Fahrzeugdynamik wie </a:t>
            </a:r>
            <a:r>
              <a:rPr lang="de-DE" sz="1200" kern="1200" dirty="0" err="1">
                <a:solidFill>
                  <a:schemeClr val="tx1"/>
                </a:solidFill>
                <a:effectLst/>
                <a:latin typeface="+mn-lt"/>
                <a:ea typeface="+mn-ea"/>
                <a:cs typeface="+mn-cs"/>
              </a:rPr>
              <a:t>Jerk</a:t>
            </a:r>
            <a:r>
              <a:rPr lang="de-DE" sz="1200" kern="1200" dirty="0">
                <a:solidFill>
                  <a:schemeClr val="tx1"/>
                </a:solidFill>
                <a:effectLst/>
                <a:latin typeface="+mn-lt"/>
                <a:ea typeface="+mn-ea"/>
                <a:cs typeface="+mn-cs"/>
              </a:rPr>
              <a:t> und Lenkgeschwindigkeit, Blickverhalten wie die Off-Road-Ratio, und physiologische Signale wie Herzrate.</a:t>
            </a:r>
          </a:p>
          <a:p>
            <a:r>
              <a:rPr lang="de-DE" sz="1200" kern="1200" dirty="0">
                <a:solidFill>
                  <a:schemeClr val="tx1"/>
                </a:solidFill>
                <a:effectLst/>
                <a:latin typeface="+mn-lt"/>
                <a:ea typeface="+mn-ea"/>
                <a:cs typeface="+mn-cs"/>
              </a:rPr>
              <a:t>Viertens: Ist eine vollständige End-</a:t>
            </a:r>
            <a:r>
              <a:rPr lang="de-DE" sz="1200" kern="1200" dirty="0" err="1">
                <a:solidFill>
                  <a:schemeClr val="tx1"/>
                </a:solidFill>
                <a:effectLst/>
                <a:latin typeface="+mn-lt"/>
                <a:ea typeface="+mn-ea"/>
                <a:cs typeface="+mn-cs"/>
              </a:rPr>
              <a:t>to</a:t>
            </a:r>
            <a:r>
              <a:rPr lang="de-DE" sz="1200" kern="1200" dirty="0">
                <a:solidFill>
                  <a:schemeClr val="tx1"/>
                </a:solidFill>
                <a:effectLst/>
                <a:latin typeface="+mn-lt"/>
                <a:ea typeface="+mn-ea"/>
                <a:cs typeface="+mn-cs"/>
              </a:rPr>
              <a:t>-End Pipeline mit über 5 Millionen Trainingssamples aus dem VTI-Simulator.</a:t>
            </a:r>
          </a:p>
          <a:p>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3</a:t>
            </a:fld>
            <a:endParaRPr lang="de-DE"/>
          </a:p>
        </p:txBody>
      </p:sp>
    </p:spTree>
    <p:extLst>
      <p:ext uri="{BB962C8B-B14F-4D97-AF65-F5344CB8AC3E}">
        <p14:creationId xmlns:p14="http://schemas.microsoft.com/office/powerpoint/2010/main" val="4035208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Die Daten stammen vom Swedish National Road and Transport Research Institute – dem VTI-Fahrsimulator. Das ist eine high </a:t>
            </a:r>
            <a:r>
              <a:rPr lang="de-DE" sz="1200" kern="1200" dirty="0" err="1">
                <a:solidFill>
                  <a:schemeClr val="tx1"/>
                </a:solidFill>
                <a:effectLst/>
                <a:latin typeface="+mn-lt"/>
                <a:ea typeface="+mn-ea"/>
                <a:cs typeface="+mn-cs"/>
              </a:rPr>
              <a:t>fidelity</a:t>
            </a:r>
            <a:r>
              <a:rPr lang="de-DE" sz="1200" kern="1200" dirty="0">
                <a:solidFill>
                  <a:schemeClr val="tx1"/>
                </a:solidFill>
                <a:effectLst/>
                <a:latin typeface="+mn-lt"/>
                <a:ea typeface="+mn-ea"/>
                <a:cs typeface="+mn-cs"/>
              </a:rPr>
              <a:t> Fahrumgebung mit 180 Grad Sichtfeld, realistischer Fahrzeugdynamik und integrierten Eye-Tracking-Systemen.</a:t>
            </a:r>
          </a:p>
          <a:p>
            <a:r>
              <a:rPr lang="de-DE" sz="1200" kern="1200" dirty="0">
                <a:solidFill>
                  <a:schemeClr val="tx1"/>
                </a:solidFill>
                <a:effectLst/>
                <a:latin typeface="+mn-lt"/>
                <a:ea typeface="+mn-ea"/>
                <a:cs typeface="+mn-cs"/>
              </a:rPr>
              <a:t>Wir erfassen drei Datenströme gleichzeitig und zwar die Fahrzeugdynamik wie Geschwindigkeit, Beschleunigung, </a:t>
            </a:r>
            <a:r>
              <a:rPr lang="de-DE" sz="1200" kern="1200" dirty="0" err="1">
                <a:solidFill>
                  <a:schemeClr val="tx1"/>
                </a:solidFill>
                <a:effectLst/>
                <a:latin typeface="+mn-lt"/>
                <a:ea typeface="+mn-ea"/>
                <a:cs typeface="+mn-cs"/>
              </a:rPr>
              <a:t>Jerk</a:t>
            </a:r>
            <a:r>
              <a:rPr lang="de-DE" sz="1200" kern="1200" dirty="0">
                <a:solidFill>
                  <a:schemeClr val="tx1"/>
                </a:solidFill>
                <a:effectLst/>
                <a:latin typeface="+mn-lt"/>
                <a:ea typeface="+mn-ea"/>
                <a:cs typeface="+mn-cs"/>
              </a:rPr>
              <a:t>, Lenkwinkel mit 50 Hz Sampling. Eye-Tracking mit dem </a:t>
            </a:r>
            <a:r>
              <a:rPr lang="de-DE" sz="1200" kern="1200" dirty="0" err="1">
                <a:solidFill>
                  <a:schemeClr val="tx1"/>
                </a:solidFill>
                <a:effectLst/>
                <a:latin typeface="+mn-lt"/>
                <a:ea typeface="+mn-ea"/>
                <a:cs typeface="+mn-cs"/>
              </a:rPr>
              <a:t>Varjo</a:t>
            </a:r>
            <a:r>
              <a:rPr lang="de-DE" sz="1200" kern="1200" dirty="0">
                <a:solidFill>
                  <a:schemeClr val="tx1"/>
                </a:solidFill>
                <a:effectLst/>
                <a:latin typeface="+mn-lt"/>
                <a:ea typeface="+mn-ea"/>
                <a:cs typeface="+mn-cs"/>
              </a:rPr>
              <a:t> XR-Headset mit horizontaler und vertikaler Blickrichtung mit 90 Hz, sowie </a:t>
            </a:r>
            <a:r>
              <a:rPr lang="de-DE" sz="1200" kern="1200" dirty="0" err="1">
                <a:solidFill>
                  <a:schemeClr val="tx1"/>
                </a:solidFill>
                <a:effectLst/>
                <a:latin typeface="+mn-lt"/>
                <a:ea typeface="+mn-ea"/>
                <a:cs typeface="+mn-cs"/>
              </a:rPr>
              <a:t>Augenlidentöffnung</a:t>
            </a:r>
            <a:r>
              <a:rPr lang="de-DE" sz="1200" kern="1200" dirty="0">
                <a:solidFill>
                  <a:schemeClr val="tx1"/>
                </a:solidFill>
                <a:effectLst/>
                <a:latin typeface="+mn-lt"/>
                <a:ea typeface="+mn-ea"/>
                <a:cs typeface="+mn-cs"/>
              </a:rPr>
              <a:t> als Müdigkeitsindikator. Und Physiologie wie die Herzrate abgeleitet vom EKG-Signal, RR-Intervalle für Herzratenvariabilität.</a:t>
            </a:r>
          </a:p>
          <a:p>
            <a:r>
              <a:rPr lang="de-DE" sz="1200" kern="1200" dirty="0">
                <a:solidFill>
                  <a:schemeClr val="tx1"/>
                </a:solidFill>
                <a:effectLst/>
                <a:latin typeface="+mn-lt"/>
                <a:ea typeface="+mn-ea"/>
                <a:cs typeface="+mn-cs"/>
              </a:rPr>
              <a:t>Das große technische Problem: ist Alle diese Daten stammen aus verschiedenen Dateien mit unterschiedlichen Sampling-Raten. Wir synchronisieren alles auf 50 Hz durch lineare Interpolation und behandeln fehlende Werte durch </a:t>
            </a:r>
            <a:r>
              <a:rPr lang="de-DE" sz="1200" kern="1200" dirty="0" err="1">
                <a:solidFill>
                  <a:schemeClr val="tx1"/>
                </a:solidFill>
                <a:effectLst/>
                <a:latin typeface="+mn-lt"/>
                <a:ea typeface="+mn-ea"/>
                <a:cs typeface="+mn-cs"/>
              </a:rPr>
              <a:t>Backward</a:t>
            </a:r>
            <a:r>
              <a:rPr lang="de-DE" sz="1200" kern="1200" dirty="0">
                <a:solidFill>
                  <a:schemeClr val="tx1"/>
                </a:solidFill>
                <a:effectLst/>
                <a:latin typeface="+mn-lt"/>
                <a:ea typeface="+mn-ea"/>
                <a:cs typeface="+mn-cs"/>
              </a:rPr>
              <a:t>-Fill, Forward-Fill und Zero-Fill.</a:t>
            </a:r>
          </a:p>
        </p:txBody>
      </p:sp>
      <p:sp>
        <p:nvSpPr>
          <p:cNvPr id="4" name="Foliennummernplatzhalter 3"/>
          <p:cNvSpPr>
            <a:spLocks noGrp="1"/>
          </p:cNvSpPr>
          <p:nvPr>
            <p:ph type="sldNum" sz="quarter" idx="5"/>
          </p:nvPr>
        </p:nvSpPr>
        <p:spPr/>
        <p:txBody>
          <a:bodyPr/>
          <a:lstStyle/>
          <a:p>
            <a:fld id="{4B634F83-ED6B-47E9-9621-34DEC243B584}" type="slidenum">
              <a:rPr lang="de-DE" smtClean="0"/>
              <a:t>4</a:t>
            </a:fld>
            <a:endParaRPr lang="de-DE"/>
          </a:p>
        </p:txBody>
      </p:sp>
    </p:spTree>
    <p:extLst>
      <p:ext uri="{BB962C8B-B14F-4D97-AF65-F5344CB8AC3E}">
        <p14:creationId xmlns:p14="http://schemas.microsoft.com/office/powerpoint/2010/main" val="2139863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a:solidFill>
                  <a:schemeClr val="tx1"/>
                </a:solidFill>
                <a:effectLst/>
                <a:latin typeface="+mn-lt"/>
                <a:ea typeface="+mn-ea"/>
                <a:cs typeface="+mn-cs"/>
              </a:rPr>
              <a:t>Aus diesen Rohsignalen </a:t>
            </a:r>
            <a:r>
              <a:rPr lang="de-DE" sz="1200" b="0" i="0" kern="1200" dirty="0" err="1">
                <a:solidFill>
                  <a:schemeClr val="tx1"/>
                </a:solidFill>
                <a:effectLst/>
                <a:latin typeface="+mn-lt"/>
                <a:ea typeface="+mn-ea"/>
                <a:cs typeface="+mn-cs"/>
              </a:rPr>
              <a:t>engineeren</a:t>
            </a:r>
            <a:r>
              <a:rPr lang="de-DE" sz="1200" b="0" i="0" kern="1200" dirty="0">
                <a:solidFill>
                  <a:schemeClr val="tx1"/>
                </a:solidFill>
                <a:effectLst/>
                <a:latin typeface="+mn-lt"/>
                <a:ea typeface="+mn-ea"/>
                <a:cs typeface="+mn-cs"/>
              </a:rPr>
              <a:t> wir 37 Features mit einem gleitenden (</a:t>
            </a:r>
            <a:r>
              <a:rPr lang="de-DE" sz="1200" b="0" i="0" kern="1200" dirty="0" err="1">
                <a:solidFill>
                  <a:schemeClr val="tx1"/>
                </a:solidFill>
                <a:effectLst/>
                <a:latin typeface="+mn-lt"/>
                <a:ea typeface="+mn-ea"/>
                <a:cs typeface="+mn-cs"/>
              </a:rPr>
              <a:t>rolling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window</a:t>
            </a:r>
            <a:r>
              <a:rPr lang="de-DE" sz="1200" b="0" i="0" kern="1200" dirty="0">
                <a:solidFill>
                  <a:schemeClr val="tx1"/>
                </a:solidFill>
                <a:effectLst/>
                <a:latin typeface="+mn-lt"/>
                <a:ea typeface="+mn-ea"/>
                <a:cs typeface="+mn-cs"/>
              </a:rPr>
              <a:t>) 50-Sample-Fenster, das sind etwa 1 Sekunde Daten bei 50 Hz.</a:t>
            </a:r>
          </a:p>
          <a:p>
            <a:r>
              <a:rPr lang="de-DE" sz="1200" b="0" i="0" kern="1200" dirty="0">
                <a:solidFill>
                  <a:schemeClr val="tx1"/>
                </a:solidFill>
                <a:effectLst/>
                <a:latin typeface="+mn-lt"/>
                <a:ea typeface="+mn-ea"/>
                <a:cs typeface="+mn-cs"/>
              </a:rPr>
              <a:t>Die Aggressive-</a:t>
            </a:r>
            <a:r>
              <a:rPr lang="de-DE" sz="1200" b="0" i="0" kern="1200" dirty="0" err="1">
                <a:solidFill>
                  <a:schemeClr val="tx1"/>
                </a:solidFill>
                <a:effectLst/>
                <a:latin typeface="+mn-lt"/>
                <a:ea typeface="+mn-ea"/>
                <a:cs typeface="+mn-cs"/>
              </a:rPr>
              <a:t>Driving</a:t>
            </a:r>
            <a:r>
              <a:rPr lang="de-DE" sz="1200" b="0" i="0" kern="1200" dirty="0">
                <a:solidFill>
                  <a:schemeClr val="tx1"/>
                </a:solidFill>
                <a:effectLst/>
                <a:latin typeface="+mn-lt"/>
                <a:ea typeface="+mn-ea"/>
                <a:cs typeface="+mn-cs"/>
              </a:rPr>
              <a:t>-Features sind logisch: Wenn ein Fahrer aggressiv fährt, sieht man das in der Ruckartigkeit – dem </a:t>
            </a:r>
            <a:r>
              <a:rPr lang="de-DE" sz="1200" b="0" i="0" kern="1200" dirty="0" err="1">
                <a:solidFill>
                  <a:schemeClr val="tx1"/>
                </a:solidFill>
                <a:effectLst/>
                <a:latin typeface="+mn-lt"/>
                <a:ea typeface="+mn-ea"/>
                <a:cs typeface="+mn-cs"/>
              </a:rPr>
              <a:t>Jerk</a:t>
            </a:r>
            <a:r>
              <a:rPr lang="de-DE" sz="1200" b="0" i="0" kern="1200" dirty="0">
                <a:solidFill>
                  <a:schemeClr val="tx1"/>
                </a:solidFill>
                <a:effectLst/>
                <a:latin typeface="+mn-lt"/>
                <a:ea typeface="+mn-ea"/>
                <a:cs typeface="+mn-cs"/>
              </a:rPr>
              <a:t>. Das ist die Ableitung der Beschleunigung und zeigt, wie ruckartig der Fahrer beschleunigt. Dann gibt es Lenkgeschwindigkeit und Gaspedalwechsel-Frequenz. Auch das Verhältnis kritischer Abstände – wenn die Zeit zum Vorderfahrzeug unter 2 Sekunden ist.</a:t>
            </a:r>
          </a:p>
          <a:p>
            <a:r>
              <a:rPr lang="de-DE" sz="1200" b="0" i="0" kern="1200" dirty="0">
                <a:solidFill>
                  <a:schemeClr val="tx1"/>
                </a:solidFill>
                <a:effectLst/>
                <a:latin typeface="+mn-lt"/>
                <a:ea typeface="+mn-ea"/>
                <a:cs typeface="+mn-cs"/>
              </a:rPr>
              <a:t>Für unaufmerksame Fahrweise sind die Features anders: Spurabweichung – wie stark weicht der Fahrer von seiner Normallinie ab? Off-Road Gaze-Ratio – wie lange schaut der Fahrer nicht auf die Straße? </a:t>
            </a:r>
            <a:r>
              <a:rPr lang="de-DE" sz="1200" b="0" i="0" kern="1200" dirty="0" err="1">
                <a:solidFill>
                  <a:schemeClr val="tx1"/>
                </a:solidFill>
                <a:effectLst/>
                <a:latin typeface="+mn-lt"/>
                <a:ea typeface="+mn-ea"/>
                <a:cs typeface="+mn-cs"/>
              </a:rPr>
              <a:t>Augenlidentöffnung</a:t>
            </a:r>
            <a:r>
              <a:rPr lang="de-DE" sz="1200" b="0" i="0" kern="1200" dirty="0">
                <a:solidFill>
                  <a:schemeClr val="tx1"/>
                </a:solidFill>
                <a:effectLst/>
                <a:latin typeface="+mn-lt"/>
                <a:ea typeface="+mn-ea"/>
                <a:cs typeface="+mn-cs"/>
              </a:rPr>
              <a:t> als Müdigkeitsindikator. NDRT-Fehlerrate aus der Arrow-Task – wenn Fahrer Nebenaufgaben schlecht lösen, sind sie abgelenkt.</a:t>
            </a:r>
          </a:p>
          <a:p>
            <a:r>
              <a:rPr lang="de-DE" sz="1200" b="0" i="0" kern="1200" dirty="0">
                <a:solidFill>
                  <a:schemeClr val="tx1"/>
                </a:solidFill>
                <a:effectLst/>
                <a:latin typeface="+mn-lt"/>
                <a:ea typeface="+mn-ea"/>
                <a:cs typeface="+mn-cs"/>
              </a:rPr>
              <a:t>Dazu kommen 9 kontextuelle Features wie die Anzahl umgebender Fahrzeuge und Physiologie.</a:t>
            </a:r>
          </a:p>
        </p:txBody>
      </p:sp>
      <p:sp>
        <p:nvSpPr>
          <p:cNvPr id="4" name="Foliennummernplatzhalter 3"/>
          <p:cNvSpPr>
            <a:spLocks noGrp="1"/>
          </p:cNvSpPr>
          <p:nvPr>
            <p:ph type="sldNum" sz="quarter" idx="5"/>
          </p:nvPr>
        </p:nvSpPr>
        <p:spPr/>
        <p:txBody>
          <a:bodyPr/>
          <a:lstStyle/>
          <a:p>
            <a:fld id="{4B634F83-ED6B-47E9-9621-34DEC243B584}" type="slidenum">
              <a:rPr lang="de-DE" smtClean="0"/>
              <a:t>5</a:t>
            </a:fld>
            <a:endParaRPr lang="de-DE"/>
          </a:p>
        </p:txBody>
      </p:sp>
    </p:spTree>
    <p:extLst>
      <p:ext uri="{BB962C8B-B14F-4D97-AF65-F5344CB8AC3E}">
        <p14:creationId xmlns:p14="http://schemas.microsoft.com/office/powerpoint/2010/main" val="3544550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Jetzt zum Herzstück des Projekts: Wie generieren wir Labels ohne Ground Truth?</a:t>
            </a:r>
          </a:p>
          <a:p>
            <a:r>
              <a:rPr lang="de-DE" sz="1200" kern="1200" dirty="0">
                <a:solidFill>
                  <a:schemeClr val="tx1"/>
                </a:solidFill>
                <a:effectLst/>
                <a:latin typeface="+mn-lt"/>
                <a:ea typeface="+mn-ea"/>
                <a:cs typeface="+mn-cs"/>
              </a:rPr>
              <a:t>Phase 1: Wir analysieren die Datenverteilung und setzen Schwellenwerte auf den 85. bis 90. Perzentilen. Das sind absolute Werte und nicht relativ zur Person oder Session. Ein hoher </a:t>
            </a:r>
            <a:r>
              <a:rPr lang="de-DE" sz="1200" kern="1200" dirty="0" err="1">
                <a:solidFill>
                  <a:schemeClr val="tx1"/>
                </a:solidFill>
                <a:effectLst/>
                <a:latin typeface="+mn-lt"/>
                <a:ea typeface="+mn-ea"/>
                <a:cs typeface="+mn-cs"/>
              </a:rPr>
              <a:t>Jerk</a:t>
            </a:r>
            <a:r>
              <a:rPr lang="de-DE" sz="1200" kern="1200" dirty="0">
                <a:solidFill>
                  <a:schemeClr val="tx1"/>
                </a:solidFill>
                <a:effectLst/>
                <a:latin typeface="+mn-lt"/>
                <a:ea typeface="+mn-ea"/>
                <a:cs typeface="+mn-cs"/>
              </a:rPr>
              <a:t> ist überall im Datensatz definiert als die oberen 10 Prozent aller </a:t>
            </a:r>
            <a:r>
              <a:rPr lang="de-DE" sz="1200" kern="1200" dirty="0" err="1">
                <a:solidFill>
                  <a:schemeClr val="tx1"/>
                </a:solidFill>
                <a:effectLst/>
                <a:latin typeface="+mn-lt"/>
                <a:ea typeface="+mn-ea"/>
                <a:cs typeface="+mn-cs"/>
              </a:rPr>
              <a:t>Jerk</a:t>
            </a:r>
            <a:r>
              <a:rPr lang="de-DE" sz="1200" kern="1200" dirty="0">
                <a:solidFill>
                  <a:schemeClr val="tx1"/>
                </a:solidFill>
                <a:effectLst/>
                <a:latin typeface="+mn-lt"/>
                <a:ea typeface="+mn-ea"/>
                <a:cs typeface="+mn-cs"/>
              </a:rPr>
              <a:t>-Werte.</a:t>
            </a:r>
          </a:p>
          <a:p>
            <a:r>
              <a:rPr lang="de-DE" sz="1200" kern="1200" dirty="0">
                <a:solidFill>
                  <a:schemeClr val="tx1"/>
                </a:solidFill>
                <a:effectLst/>
                <a:latin typeface="+mn-lt"/>
                <a:ea typeface="+mn-ea"/>
                <a:cs typeface="+mn-cs"/>
              </a:rPr>
              <a:t>Phase 2: Kritische Events. Wenn der Blick mehr als 30 Grad von der Fahrbahn abweicht oder der </a:t>
            </a:r>
            <a:r>
              <a:rPr lang="de-DE" sz="1200" kern="1200" dirty="0" err="1">
                <a:solidFill>
                  <a:schemeClr val="tx1"/>
                </a:solidFill>
                <a:effectLst/>
                <a:latin typeface="+mn-lt"/>
                <a:ea typeface="+mn-ea"/>
                <a:cs typeface="+mn-cs"/>
              </a:rPr>
              <a:t>Jerk</a:t>
            </a:r>
            <a:r>
              <a:rPr lang="de-DE" sz="1200" kern="1200" dirty="0">
                <a:solidFill>
                  <a:schemeClr val="tx1"/>
                </a:solidFill>
                <a:effectLst/>
                <a:latin typeface="+mn-lt"/>
                <a:ea typeface="+mn-ea"/>
                <a:cs typeface="+mn-cs"/>
              </a:rPr>
              <a:t> über unseren Schwellenwert liegt, markieren wir das als kritisches Ereignis. Das hat höchste Priorität.</a:t>
            </a:r>
          </a:p>
          <a:p>
            <a:r>
              <a:rPr lang="de-DE" sz="1200" kern="1200" dirty="0">
                <a:solidFill>
                  <a:schemeClr val="tx1"/>
                </a:solidFill>
                <a:effectLst/>
                <a:latin typeface="+mn-lt"/>
                <a:ea typeface="+mn-ea"/>
                <a:cs typeface="+mn-cs"/>
              </a:rPr>
              <a:t>Phase 3: Akkumulatives Scoring. Einzelne Features können Rauschen enthalten. Aber wenn mehrere schwache Indikatoren zusammenkommen – leichte Spurabweichung UND mehrere Fehler bei NDRT UND niedrige Fahrkontrolle-Flüssigkeit – dann ist der Fahrer wahrscheinlich abgelenkt. Wir nutzen gewichtete Scores: 40 Prozent für Spurabweichung, 30 für NDRT-Fehler, 30 für Kontrollflüssigkeit.</a:t>
            </a:r>
          </a:p>
          <a:p>
            <a:r>
              <a:rPr lang="de-DE" sz="1200" kern="1200" dirty="0">
                <a:solidFill>
                  <a:schemeClr val="tx1"/>
                </a:solidFill>
                <a:effectLst/>
                <a:latin typeface="+mn-lt"/>
                <a:ea typeface="+mn-ea"/>
                <a:cs typeface="+mn-cs"/>
              </a:rPr>
              <a:t>Phase 4: Temporal </a:t>
            </a:r>
            <a:r>
              <a:rPr lang="de-DE" sz="1200" kern="1200" dirty="0" err="1">
                <a:solidFill>
                  <a:schemeClr val="tx1"/>
                </a:solidFill>
                <a:effectLst/>
                <a:latin typeface="+mn-lt"/>
                <a:ea typeface="+mn-ea"/>
                <a:cs typeface="+mn-cs"/>
              </a:rPr>
              <a:t>Persistence</a:t>
            </a:r>
            <a:r>
              <a:rPr lang="de-DE" sz="1200" kern="1200" dirty="0">
                <a:solidFill>
                  <a:schemeClr val="tx1"/>
                </a:solidFill>
                <a:effectLst/>
                <a:latin typeface="+mn-lt"/>
                <a:ea typeface="+mn-ea"/>
                <a:cs typeface="+mn-cs"/>
              </a:rPr>
              <a:t> – das 2-Sekunden-Fenster, das ich erwähnt habe. Ein aggressives Ereignis bei t=10 Sekunden bleibt aktiv für die Zeit von 9 bis 11 Sekunden. Das verhindert Label-Flackern und entspricht menschlicher Reaktion.</a:t>
            </a:r>
          </a:p>
          <a:p>
            <a:r>
              <a:rPr lang="de-DE" sz="1200" kern="1200" dirty="0">
                <a:solidFill>
                  <a:schemeClr val="tx1"/>
                </a:solidFill>
                <a:effectLst/>
                <a:latin typeface="+mn-lt"/>
                <a:ea typeface="+mn-ea"/>
                <a:cs typeface="+mn-cs"/>
              </a:rPr>
              <a:t>Das Entscheidende: Das Modell sieht nur die 37 Features, nicht die </a:t>
            </a:r>
            <a:r>
              <a:rPr lang="de-DE" sz="1200" kern="1200" dirty="0" err="1">
                <a:solidFill>
                  <a:schemeClr val="tx1"/>
                </a:solidFill>
                <a:effectLst/>
                <a:latin typeface="+mn-lt"/>
                <a:ea typeface="+mn-ea"/>
                <a:cs typeface="+mn-cs"/>
              </a:rPr>
              <a:t>Labeling</a:t>
            </a:r>
            <a:r>
              <a:rPr lang="de-DE" sz="1200" kern="1200" dirty="0">
                <a:solidFill>
                  <a:schemeClr val="tx1"/>
                </a:solidFill>
                <a:effectLst/>
                <a:latin typeface="+mn-lt"/>
                <a:ea typeface="+mn-ea"/>
                <a:cs typeface="+mn-cs"/>
              </a:rPr>
              <a:t>-Regeln. Es lernt also nicht unsere Regeln auswendig, sondern erkennt echte Muster</a:t>
            </a:r>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6</a:t>
            </a:fld>
            <a:endParaRPr lang="de-DE"/>
          </a:p>
        </p:txBody>
      </p:sp>
    </p:spTree>
    <p:extLst>
      <p:ext uri="{BB962C8B-B14F-4D97-AF65-F5344CB8AC3E}">
        <p14:creationId xmlns:p14="http://schemas.microsoft.com/office/powerpoint/2010/main" val="3470425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Dann sehen sie hier die Label Verteilung nach dem Run des </a:t>
            </a:r>
            <a:r>
              <a:rPr lang="de-DE" dirty="0" err="1"/>
              <a:t>Labelers</a:t>
            </a:r>
            <a:r>
              <a:rPr lang="de-DE" dirty="0"/>
              <a:t>, und was einem direkt auffällt ist dass die Labels nicht Balanciert sind. Also die </a:t>
            </a:r>
            <a:r>
              <a:rPr lang="de-DE" dirty="0" err="1"/>
              <a:t>Attentive</a:t>
            </a:r>
            <a:r>
              <a:rPr lang="de-DE" dirty="0"/>
              <a:t> Gruppe ist deutlich größer als die anderen 2 Gruppen. Und das ist später bei der Modell Auswahl wichtig.</a:t>
            </a:r>
          </a:p>
        </p:txBody>
      </p:sp>
      <p:sp>
        <p:nvSpPr>
          <p:cNvPr id="4" name="Foliennummernplatzhalter 3"/>
          <p:cNvSpPr>
            <a:spLocks noGrp="1"/>
          </p:cNvSpPr>
          <p:nvPr>
            <p:ph type="sldNum" sz="quarter" idx="5"/>
          </p:nvPr>
        </p:nvSpPr>
        <p:spPr/>
        <p:txBody>
          <a:bodyPr/>
          <a:lstStyle/>
          <a:p>
            <a:fld id="{4B634F83-ED6B-47E9-9621-34DEC243B584}" type="slidenum">
              <a:rPr lang="de-DE" smtClean="0"/>
              <a:t>7</a:t>
            </a:fld>
            <a:endParaRPr lang="de-DE"/>
          </a:p>
        </p:txBody>
      </p:sp>
    </p:spTree>
    <p:extLst>
      <p:ext uri="{BB962C8B-B14F-4D97-AF65-F5344CB8AC3E}">
        <p14:creationId xmlns:p14="http://schemas.microsoft.com/office/powerpoint/2010/main" val="3906697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Für die Klassifikation nutzen wir zunächst Random Forest – eine simple, Ensemble-Methode. Der Random Forest baut mehrere Entscheidungsbäume parallel auf – in unserem Fall sind es 200 Bäume. Jeder Baum wird auf einem zufälligen </a:t>
            </a:r>
            <a:r>
              <a:rPr lang="de-DE" sz="1200" kern="1200" dirty="0" err="1">
                <a:solidFill>
                  <a:schemeClr val="tx1"/>
                </a:solidFill>
                <a:effectLst/>
                <a:latin typeface="+mn-lt"/>
                <a:ea typeface="+mn-ea"/>
                <a:cs typeface="+mn-cs"/>
              </a:rPr>
              <a:t>Subset</a:t>
            </a:r>
            <a:r>
              <a:rPr lang="de-DE" sz="1200" kern="1200" dirty="0">
                <a:solidFill>
                  <a:schemeClr val="tx1"/>
                </a:solidFill>
                <a:effectLst/>
                <a:latin typeface="+mn-lt"/>
                <a:ea typeface="+mn-ea"/>
                <a:cs typeface="+mn-cs"/>
              </a:rPr>
              <a:t> der Daten und Features trainiert. Am Ende wird über alle Bäume abgestimmt. Die Mehrheit gewinnt. Das ist sehr robust gegen </a:t>
            </a:r>
            <a:r>
              <a:rPr lang="de-DE" sz="1200" kern="1200" dirty="0" err="1">
                <a:solidFill>
                  <a:schemeClr val="tx1"/>
                </a:solidFill>
                <a:effectLst/>
                <a:latin typeface="+mn-lt"/>
                <a:ea typeface="+mn-ea"/>
                <a:cs typeface="+mn-cs"/>
              </a:rPr>
              <a:t>Overfitting</a:t>
            </a:r>
            <a:r>
              <a:rPr lang="de-DE" sz="1200" kern="1200" dirty="0">
                <a:solidFill>
                  <a:schemeClr val="tx1"/>
                </a:solidFill>
                <a:effectLst/>
                <a:latin typeface="+mn-lt"/>
                <a:ea typeface="+mn-ea"/>
                <a:cs typeface="+mn-cs"/>
              </a:rPr>
              <a:t>.</a:t>
            </a:r>
          </a:p>
          <a:p>
            <a:r>
              <a:rPr lang="de-DE" sz="1200" kern="1200" dirty="0">
                <a:solidFill>
                  <a:schemeClr val="tx1"/>
                </a:solidFill>
                <a:effectLst/>
                <a:latin typeface="+mn-lt"/>
                <a:ea typeface="+mn-ea"/>
                <a:cs typeface="+mn-cs"/>
              </a:rPr>
              <a:t>Die Hyperparameter sind konservativ: </a:t>
            </a:r>
            <a:r>
              <a:rPr lang="de-DE" sz="1200" kern="1200" dirty="0" err="1">
                <a:solidFill>
                  <a:schemeClr val="tx1"/>
                </a:solidFill>
                <a:effectLst/>
                <a:latin typeface="+mn-lt"/>
                <a:ea typeface="+mn-ea"/>
                <a:cs typeface="+mn-cs"/>
              </a:rPr>
              <a:t>max_depth</a:t>
            </a:r>
            <a:r>
              <a:rPr lang="de-DE" sz="1200" kern="1200" dirty="0">
                <a:solidFill>
                  <a:schemeClr val="tx1"/>
                </a:solidFill>
                <a:effectLst/>
                <a:latin typeface="+mn-lt"/>
                <a:ea typeface="+mn-ea"/>
                <a:cs typeface="+mn-cs"/>
              </a:rPr>
              <a:t> 5 begrenzt die Komplexität, </a:t>
            </a:r>
            <a:r>
              <a:rPr lang="de-DE" sz="1200" kern="1200" dirty="0" err="1">
                <a:solidFill>
                  <a:schemeClr val="tx1"/>
                </a:solidFill>
                <a:effectLst/>
                <a:latin typeface="+mn-lt"/>
                <a:ea typeface="+mn-ea"/>
                <a:cs typeface="+mn-cs"/>
              </a:rPr>
              <a:t>min_samples_split</a:t>
            </a:r>
            <a:r>
              <a:rPr lang="de-DE" sz="1200" kern="1200" dirty="0">
                <a:solidFill>
                  <a:schemeClr val="tx1"/>
                </a:solidFill>
                <a:effectLst/>
                <a:latin typeface="+mn-lt"/>
                <a:ea typeface="+mn-ea"/>
                <a:cs typeface="+mn-cs"/>
              </a:rPr>
              <a:t> 30 garantiert zuverlässige Splits. Das Wichtigste: </a:t>
            </a:r>
            <a:r>
              <a:rPr lang="de-DE" sz="1200" kern="1200" dirty="0" err="1">
                <a:solidFill>
                  <a:schemeClr val="tx1"/>
                </a:solidFill>
                <a:effectLst/>
                <a:latin typeface="+mn-lt"/>
                <a:ea typeface="+mn-ea"/>
                <a:cs typeface="+mn-cs"/>
              </a:rPr>
              <a:t>class_weight</a:t>
            </a: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balanced</a:t>
            </a:r>
            <a:r>
              <a:rPr lang="de-DE" sz="1200" kern="1200" dirty="0">
                <a:solidFill>
                  <a:schemeClr val="tx1"/>
                </a:solidFill>
                <a:effectLst/>
                <a:latin typeface="+mn-lt"/>
                <a:ea typeface="+mn-ea"/>
                <a:cs typeface="+mn-cs"/>
              </a:rPr>
              <a:t>'. Das kompensiert unser Klassenungleichgewicht. Wir haben nämlich 52,5 Prozent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aber nur 24,7 Prozent </a:t>
            </a:r>
            <a:r>
              <a:rPr lang="de-DE" sz="1200" kern="1200" dirty="0" err="1">
                <a:solidFill>
                  <a:schemeClr val="tx1"/>
                </a:solidFill>
                <a:effectLst/>
                <a:latin typeface="+mn-lt"/>
                <a:ea typeface="+mn-ea"/>
                <a:cs typeface="+mn-cs"/>
              </a:rPr>
              <a:t>Inattentive</a:t>
            </a:r>
            <a:r>
              <a:rPr lang="de-DE" sz="1200" kern="1200" dirty="0">
                <a:solidFill>
                  <a:schemeClr val="tx1"/>
                </a:solidFill>
                <a:effectLst/>
                <a:latin typeface="+mn-lt"/>
                <a:ea typeface="+mn-ea"/>
                <a:cs typeface="+mn-cs"/>
              </a:rPr>
              <a:t> und 22,8 Prozent Aggressive. Ohne </a:t>
            </a:r>
            <a:r>
              <a:rPr lang="de-DE" sz="1200" kern="1200" dirty="0" err="1">
                <a:solidFill>
                  <a:schemeClr val="tx1"/>
                </a:solidFill>
                <a:effectLst/>
                <a:latin typeface="+mn-lt"/>
                <a:ea typeface="+mn-ea"/>
                <a:cs typeface="+mn-cs"/>
              </a:rPr>
              <a:t>balancing</a:t>
            </a:r>
            <a:r>
              <a:rPr lang="de-DE" sz="1200" kern="1200" dirty="0">
                <a:solidFill>
                  <a:schemeClr val="tx1"/>
                </a:solidFill>
                <a:effectLst/>
                <a:latin typeface="+mn-lt"/>
                <a:ea typeface="+mn-ea"/>
                <a:cs typeface="+mn-cs"/>
              </a:rPr>
              <a:t> würde das Modell immer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vorhersagen und die seltenen Klassen ignorieren.</a:t>
            </a:r>
          </a:p>
          <a:p>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8</a:t>
            </a:fld>
            <a:endParaRPr lang="de-DE"/>
          </a:p>
        </p:txBody>
      </p:sp>
    </p:spTree>
    <p:extLst>
      <p:ext uri="{BB962C8B-B14F-4D97-AF65-F5344CB8AC3E}">
        <p14:creationId xmlns:p14="http://schemas.microsoft.com/office/powerpoint/2010/main" val="118361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Random Forest erreicht auf 5 Millionen Datensätzen eine 88.87 % </a:t>
            </a:r>
            <a:r>
              <a:rPr lang="de-DE" sz="1200" kern="1200" dirty="0" err="1">
                <a:solidFill>
                  <a:schemeClr val="tx1"/>
                </a:solidFill>
                <a:effectLst/>
                <a:latin typeface="+mn-lt"/>
                <a:ea typeface="+mn-ea"/>
                <a:cs typeface="+mn-cs"/>
              </a:rPr>
              <a:t>Accuracy</a:t>
            </a:r>
            <a:r>
              <a:rPr lang="de-DE" sz="1200" kern="1200" dirty="0">
                <a:solidFill>
                  <a:schemeClr val="tx1"/>
                </a:solidFill>
                <a:effectLst/>
                <a:latin typeface="+mn-lt"/>
                <a:ea typeface="+mn-ea"/>
                <a:cs typeface="+mn-cs"/>
              </a:rPr>
              <a:t>. Das ist ein solides Ergebnis für einen </a:t>
            </a:r>
            <a:r>
              <a:rPr lang="de-DE" sz="1200" kern="1200" dirty="0" err="1">
                <a:solidFill>
                  <a:schemeClr val="tx1"/>
                </a:solidFill>
                <a:effectLst/>
                <a:latin typeface="+mn-lt"/>
                <a:ea typeface="+mn-ea"/>
                <a:cs typeface="+mn-cs"/>
              </a:rPr>
              <a:t>baseline</a:t>
            </a:r>
            <a:r>
              <a:rPr lang="de-DE" sz="1200" kern="1200" dirty="0">
                <a:solidFill>
                  <a:schemeClr val="tx1"/>
                </a:solidFill>
                <a:effectLst/>
                <a:latin typeface="+mn-lt"/>
                <a:ea typeface="+mn-ea"/>
                <a:cs typeface="+mn-cs"/>
              </a:rPr>
              <a:t>. Der Train-Test Gap ist weniger als 1 Prozent – das zeigt, dass das Modell gut generalisiert und nicht </a:t>
            </a:r>
            <a:r>
              <a:rPr lang="de-DE" sz="1200" kern="1200" dirty="0" err="1">
                <a:solidFill>
                  <a:schemeClr val="tx1"/>
                </a:solidFill>
                <a:effectLst/>
                <a:latin typeface="+mn-lt"/>
                <a:ea typeface="+mn-ea"/>
                <a:cs typeface="+mn-cs"/>
              </a:rPr>
              <a:t>Overfitted</a:t>
            </a:r>
            <a:r>
              <a:rPr lang="de-DE" sz="1200" kern="1200" dirty="0">
                <a:solidFill>
                  <a:schemeClr val="tx1"/>
                </a:solidFill>
                <a:effectLst/>
                <a:latin typeface="+mn-lt"/>
                <a:ea typeface="+mn-ea"/>
                <a:cs typeface="+mn-cs"/>
              </a:rPr>
              <a:t>.</a:t>
            </a:r>
          </a:p>
          <a:p>
            <a:r>
              <a:rPr lang="de-DE" sz="1200" kern="1200" dirty="0" err="1">
                <a:solidFill>
                  <a:schemeClr val="tx1"/>
                </a:solidFill>
                <a:effectLst/>
                <a:latin typeface="+mn-lt"/>
                <a:ea typeface="+mn-ea"/>
                <a:cs typeface="+mn-cs"/>
              </a:rPr>
              <a:t>Cohen's</a:t>
            </a:r>
            <a:r>
              <a:rPr lang="de-DE" sz="1200" kern="1200" dirty="0">
                <a:solidFill>
                  <a:schemeClr val="tx1"/>
                </a:solidFill>
                <a:effectLst/>
                <a:latin typeface="+mn-lt"/>
                <a:ea typeface="+mn-ea"/>
                <a:cs typeface="+mn-cs"/>
              </a:rPr>
              <a:t> Kappa ist 0,8129. Das ist Metrik für Übereinstimmung, und gilt als starke Übereinstimmung. Die Per-Class F1-Scores sind: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0,92, </a:t>
            </a:r>
            <a:r>
              <a:rPr lang="de-DE" sz="1200" kern="1200" dirty="0" err="1">
                <a:solidFill>
                  <a:schemeClr val="tx1"/>
                </a:solidFill>
                <a:effectLst/>
                <a:latin typeface="+mn-lt"/>
                <a:ea typeface="+mn-ea"/>
                <a:cs typeface="+mn-cs"/>
              </a:rPr>
              <a:t>Inattentive</a:t>
            </a:r>
            <a:r>
              <a:rPr lang="de-DE" sz="1200" kern="1200" dirty="0">
                <a:solidFill>
                  <a:schemeClr val="tx1"/>
                </a:solidFill>
                <a:effectLst/>
                <a:latin typeface="+mn-lt"/>
                <a:ea typeface="+mn-ea"/>
                <a:cs typeface="+mn-cs"/>
              </a:rPr>
              <a:t> 0,89, Aggressive 0,89. Das ist ausgewogen, aber die seltenen Klassen sind nicht so stark wie die dominante Klasse.</a:t>
            </a:r>
          </a:p>
          <a:p>
            <a:r>
              <a:rPr lang="de-DE" sz="1200" kern="1200" dirty="0">
                <a:solidFill>
                  <a:schemeClr val="tx1"/>
                </a:solidFill>
                <a:effectLst/>
                <a:latin typeface="+mn-lt"/>
                <a:ea typeface="+mn-ea"/>
                <a:cs typeface="+mn-cs"/>
              </a:rPr>
              <a:t> </a:t>
            </a:r>
          </a:p>
          <a:p>
            <a:r>
              <a:rPr lang="de-DE" sz="1200" kern="1200" dirty="0">
                <a:solidFill>
                  <a:schemeClr val="tx1"/>
                </a:solidFill>
                <a:effectLst/>
                <a:latin typeface="+mn-lt"/>
                <a:ea typeface="+mn-ea"/>
                <a:cs typeface="+mn-cs"/>
              </a:rPr>
              <a:t>Wie wir hier and der </a:t>
            </a:r>
            <a:r>
              <a:rPr lang="de-DE" sz="1200" kern="1200" dirty="0" err="1">
                <a:solidFill>
                  <a:schemeClr val="tx1"/>
                </a:solidFill>
                <a:effectLst/>
                <a:latin typeface="+mn-lt"/>
                <a:ea typeface="+mn-ea"/>
                <a:cs typeface="+mn-cs"/>
              </a:rPr>
              <a:t>Confusion</a:t>
            </a:r>
            <a:r>
              <a:rPr lang="de-DE" sz="1200" kern="1200" dirty="0">
                <a:solidFill>
                  <a:schemeClr val="tx1"/>
                </a:solidFill>
                <a:effectLst/>
                <a:latin typeface="+mn-lt"/>
                <a:ea typeface="+mn-ea"/>
                <a:cs typeface="+mn-cs"/>
              </a:rPr>
              <a:t> Matrix erkennen können, wird </a:t>
            </a:r>
            <a:r>
              <a:rPr lang="de-DE" sz="1200" kern="1200" dirty="0" err="1">
                <a:solidFill>
                  <a:schemeClr val="tx1"/>
                </a:solidFill>
                <a:effectLst/>
                <a:latin typeface="+mn-lt"/>
                <a:ea typeface="+mn-ea"/>
                <a:cs typeface="+mn-cs"/>
              </a:rPr>
              <a:t>Inattentive</a:t>
            </a:r>
            <a:r>
              <a:rPr lang="de-DE" sz="1200" kern="1200" dirty="0">
                <a:solidFill>
                  <a:schemeClr val="tx1"/>
                </a:solidFill>
                <a:effectLst/>
                <a:latin typeface="+mn-lt"/>
                <a:ea typeface="+mn-ea"/>
                <a:cs typeface="+mn-cs"/>
              </a:rPr>
              <a:t> oft mit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verwechselt, was höchst wahrscheinlich and der </a:t>
            </a:r>
            <a:r>
              <a:rPr lang="de-DE" sz="1200" kern="1200" dirty="0" err="1">
                <a:solidFill>
                  <a:schemeClr val="tx1"/>
                </a:solidFill>
                <a:effectLst/>
                <a:latin typeface="+mn-lt"/>
                <a:ea typeface="+mn-ea"/>
                <a:cs typeface="+mn-cs"/>
              </a:rPr>
              <a:t>Labeling</a:t>
            </a:r>
            <a:r>
              <a:rPr lang="de-DE" sz="1200" kern="1200" dirty="0">
                <a:solidFill>
                  <a:schemeClr val="tx1"/>
                </a:solidFill>
                <a:effectLst/>
                <a:latin typeface="+mn-lt"/>
                <a:ea typeface="+mn-ea"/>
                <a:cs typeface="+mn-cs"/>
              </a:rPr>
              <a:t> Logik liegt. Aber die Test Ergebnisse sind nicht schlecht.</a:t>
            </a:r>
          </a:p>
          <a:p>
            <a:r>
              <a:rPr lang="de-DE" sz="1200" kern="1200" dirty="0">
                <a:solidFill>
                  <a:schemeClr val="tx1"/>
                </a:solidFill>
                <a:effectLst/>
                <a:latin typeface="+mn-lt"/>
                <a:ea typeface="+mn-ea"/>
                <a:cs typeface="+mn-cs"/>
              </a:rPr>
              <a:t>Ein Problem mit dem Random Forest ist das unser Datensatz wie wir vorher and den Labels gesehen haben sehr </a:t>
            </a:r>
            <a:r>
              <a:rPr lang="de-DE" sz="1200" kern="1200" dirty="0" err="1">
                <a:solidFill>
                  <a:schemeClr val="tx1"/>
                </a:solidFill>
                <a:effectLst/>
                <a:latin typeface="+mn-lt"/>
                <a:ea typeface="+mn-ea"/>
                <a:cs typeface="+mn-cs"/>
              </a:rPr>
              <a:t>unbalanciert</a:t>
            </a:r>
            <a:r>
              <a:rPr lang="de-DE" sz="1200" kern="1200" dirty="0">
                <a:solidFill>
                  <a:schemeClr val="tx1"/>
                </a:solidFill>
                <a:effectLst/>
                <a:latin typeface="+mn-lt"/>
                <a:ea typeface="+mn-ea"/>
                <a:cs typeface="+mn-cs"/>
              </a:rPr>
              <a:t> ist, der RF baut die Bäume Parallel auf und jeder Baum optimiert sich selbst. Das heißt Bäume sind Systematisch besser in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was wir mit dem </a:t>
            </a:r>
            <a:r>
              <a:rPr lang="de-DE" sz="1200" kern="1200" dirty="0" err="1">
                <a:solidFill>
                  <a:schemeClr val="tx1"/>
                </a:solidFill>
                <a:effectLst/>
                <a:latin typeface="+mn-lt"/>
                <a:ea typeface="+mn-ea"/>
                <a:cs typeface="+mn-cs"/>
              </a:rPr>
              <a:t>class_weight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balanced</a:t>
            </a:r>
            <a:r>
              <a:rPr lang="de-DE" sz="1200" kern="1200" dirty="0">
                <a:solidFill>
                  <a:schemeClr val="tx1"/>
                </a:solidFill>
                <a:effectLst/>
                <a:latin typeface="+mn-lt"/>
                <a:ea typeface="+mn-ea"/>
                <a:cs typeface="+mn-cs"/>
              </a:rPr>
              <a:t> als </a:t>
            </a:r>
            <a:r>
              <a:rPr lang="de-DE" sz="1200" kern="1200" dirty="0" err="1">
                <a:solidFill>
                  <a:schemeClr val="tx1"/>
                </a:solidFill>
                <a:effectLst/>
                <a:latin typeface="+mn-lt"/>
                <a:ea typeface="+mn-ea"/>
                <a:cs typeface="+mn-cs"/>
              </a:rPr>
              <a:t>paramter</a:t>
            </a:r>
            <a:r>
              <a:rPr lang="de-DE" sz="1200" kern="1200" dirty="0">
                <a:solidFill>
                  <a:schemeClr val="tx1"/>
                </a:solidFill>
                <a:effectLst/>
                <a:latin typeface="+mn-lt"/>
                <a:ea typeface="+mn-ea"/>
                <a:cs typeface="+mn-cs"/>
              </a:rPr>
              <a:t> ein wenig kompensieren aber die Effektivität davon ist begrenzt. Und dafür gibt es zum Glück eine bessere Architektur und zwar Gradient Boosting.</a:t>
            </a:r>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9</a:t>
            </a:fld>
            <a:endParaRPr lang="de-DE"/>
          </a:p>
        </p:txBody>
      </p:sp>
    </p:spTree>
    <p:extLst>
      <p:ext uri="{BB962C8B-B14F-4D97-AF65-F5344CB8AC3E}">
        <p14:creationId xmlns:p14="http://schemas.microsoft.com/office/powerpoint/2010/main" val="2257036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10</a:t>
            </a:fld>
            <a:endParaRPr lang="de-DE"/>
          </a:p>
        </p:txBody>
      </p:sp>
    </p:spTree>
    <p:extLst>
      <p:ext uri="{BB962C8B-B14F-4D97-AF65-F5344CB8AC3E}">
        <p14:creationId xmlns:p14="http://schemas.microsoft.com/office/powerpoint/2010/main" val="1373383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err="1">
                <a:solidFill>
                  <a:schemeClr val="tx1"/>
                </a:solidFill>
                <a:effectLst/>
                <a:latin typeface="+mn-lt"/>
                <a:ea typeface="+mn-ea"/>
                <a:cs typeface="+mn-cs"/>
              </a:rPr>
              <a:t>LightGBM</a:t>
            </a:r>
            <a:r>
              <a:rPr lang="de-DE" sz="1200" kern="1200" dirty="0">
                <a:solidFill>
                  <a:schemeClr val="tx1"/>
                </a:solidFill>
                <a:effectLst/>
                <a:latin typeface="+mn-lt"/>
                <a:ea typeface="+mn-ea"/>
                <a:cs typeface="+mn-cs"/>
              </a:rPr>
              <a:t> ist ein Gradient Boosting Framework, fundamental anders als Random Forest. Statt parallel Bäume zu bauen, baut der </a:t>
            </a:r>
            <a:r>
              <a:rPr lang="de-DE" sz="1200" kern="1200" dirty="0" err="1">
                <a:solidFill>
                  <a:schemeClr val="tx1"/>
                </a:solidFill>
                <a:effectLst/>
                <a:latin typeface="+mn-lt"/>
                <a:ea typeface="+mn-ea"/>
                <a:cs typeface="+mn-cs"/>
              </a:rPr>
              <a:t>LightGBM</a:t>
            </a:r>
            <a:r>
              <a:rPr lang="de-DE" sz="1200" kern="1200" dirty="0">
                <a:solidFill>
                  <a:schemeClr val="tx1"/>
                </a:solidFill>
                <a:effectLst/>
                <a:latin typeface="+mn-lt"/>
                <a:ea typeface="+mn-ea"/>
                <a:cs typeface="+mn-cs"/>
              </a:rPr>
              <a:t> die </a:t>
            </a:r>
            <a:r>
              <a:rPr lang="de-DE" sz="1200" kern="1200" dirty="0" err="1">
                <a:solidFill>
                  <a:schemeClr val="tx1"/>
                </a:solidFill>
                <a:effectLst/>
                <a:latin typeface="+mn-lt"/>
                <a:ea typeface="+mn-ea"/>
                <a:cs typeface="+mn-cs"/>
              </a:rPr>
              <a:t>Baüme</a:t>
            </a:r>
            <a:r>
              <a:rPr lang="de-DE" sz="1200" kern="1200" dirty="0">
                <a:solidFill>
                  <a:schemeClr val="tx1"/>
                </a:solidFill>
                <a:effectLst/>
                <a:latin typeface="+mn-lt"/>
                <a:ea typeface="+mn-ea"/>
                <a:cs typeface="+mn-cs"/>
              </a:rPr>
              <a:t> sequenziell. Der erste Baum schaut auf alle Daten. Der zweite Baum fokussiert sich gezielt auf die Fehler des ersten Baums. Der dritte Baum korrigiert die verbleibenden Fehler. Das heißt, das Modell lernt iterativ die schwierigen Samples zu korrigieren.</a:t>
            </a:r>
          </a:p>
          <a:p>
            <a:r>
              <a:rPr lang="de-DE" sz="1200" kern="1200" dirty="0">
                <a:solidFill>
                  <a:schemeClr val="tx1"/>
                </a:solidFill>
                <a:effectLst/>
                <a:latin typeface="+mn-lt"/>
                <a:ea typeface="+mn-ea"/>
                <a:cs typeface="+mn-cs"/>
              </a:rPr>
              <a:t>Und das ist für </a:t>
            </a:r>
            <a:r>
              <a:rPr lang="de-DE" sz="1200" kern="1200" dirty="0" err="1">
                <a:solidFill>
                  <a:schemeClr val="tx1"/>
                </a:solidFill>
                <a:effectLst/>
                <a:latin typeface="+mn-lt"/>
                <a:ea typeface="+mn-ea"/>
                <a:cs typeface="+mn-cs"/>
              </a:rPr>
              <a:t>unbalanzierte</a:t>
            </a:r>
            <a:r>
              <a:rPr lang="de-DE" sz="1200" kern="1200" dirty="0">
                <a:solidFill>
                  <a:schemeClr val="tx1"/>
                </a:solidFill>
                <a:effectLst/>
                <a:latin typeface="+mn-lt"/>
                <a:ea typeface="+mn-ea"/>
                <a:cs typeface="+mn-cs"/>
              </a:rPr>
              <a:t> Datensätze wie unseres viel besser Weil es speziell Fehler optimiert. Wenn der erste Baum aggressive Fahrweise schlecht erkennt, wird der zweite Baum gezielt aggressive Fahrweise lernen, weil das die größten Fehler sind. Das ist viel effizienter als parallel Training.</a:t>
            </a:r>
          </a:p>
          <a:p>
            <a:r>
              <a:rPr lang="de-DE" sz="1200" kern="1200" dirty="0">
                <a:solidFill>
                  <a:schemeClr val="tx1"/>
                </a:solidFill>
                <a:effectLst/>
                <a:latin typeface="+mn-lt"/>
                <a:ea typeface="+mn-ea"/>
                <a:cs typeface="+mn-cs"/>
              </a:rPr>
              <a:t>Hyperparameter: 200 </a:t>
            </a:r>
            <a:r>
              <a:rPr lang="de-DE" sz="1200" kern="1200" dirty="0" err="1">
                <a:solidFill>
                  <a:schemeClr val="tx1"/>
                </a:solidFill>
                <a:effectLst/>
                <a:latin typeface="+mn-lt"/>
                <a:ea typeface="+mn-ea"/>
                <a:cs typeface="+mn-cs"/>
              </a:rPr>
              <a:t>Estimators</a:t>
            </a:r>
            <a:r>
              <a:rPr lang="de-DE" sz="1200" kern="1200" dirty="0">
                <a:solidFill>
                  <a:schemeClr val="tx1"/>
                </a:solidFill>
                <a:effectLst/>
                <a:latin typeface="+mn-lt"/>
                <a:ea typeface="+mn-ea"/>
                <a:cs typeface="+mn-cs"/>
              </a:rPr>
              <a:t> für stabiles Ensemble. </a:t>
            </a:r>
            <a:r>
              <a:rPr lang="de-DE" sz="1200" kern="1200" dirty="0" err="1">
                <a:solidFill>
                  <a:schemeClr val="tx1"/>
                </a:solidFill>
                <a:effectLst/>
                <a:latin typeface="+mn-lt"/>
                <a:ea typeface="+mn-ea"/>
                <a:cs typeface="+mn-cs"/>
              </a:rPr>
              <a:t>max_depth</a:t>
            </a:r>
            <a:r>
              <a:rPr lang="de-DE" sz="1200" kern="1200" dirty="0">
                <a:solidFill>
                  <a:schemeClr val="tx1"/>
                </a:solidFill>
                <a:effectLst/>
                <a:latin typeface="+mn-lt"/>
                <a:ea typeface="+mn-ea"/>
                <a:cs typeface="+mn-cs"/>
              </a:rPr>
              <a:t> 6 – eine Ebene tiefer, aber GBM ist nicht so leicht zu </a:t>
            </a:r>
            <a:r>
              <a:rPr lang="de-DE" sz="1200" kern="1200" dirty="0" err="1">
                <a:solidFill>
                  <a:schemeClr val="tx1"/>
                </a:solidFill>
                <a:effectLst/>
                <a:latin typeface="+mn-lt"/>
                <a:ea typeface="+mn-ea"/>
                <a:cs typeface="+mn-cs"/>
              </a:rPr>
              <a:t>Overfitting</a:t>
            </a:r>
            <a:r>
              <a:rPr lang="de-DE" sz="1200" kern="1200" dirty="0">
                <a:solidFill>
                  <a:schemeClr val="tx1"/>
                </a:solidFill>
                <a:effectLst/>
                <a:latin typeface="+mn-lt"/>
                <a:ea typeface="+mn-ea"/>
                <a:cs typeface="+mn-cs"/>
              </a:rPr>
              <a:t> neigt. Learning Rate 0,05 – kleine Schritte für Stabilität. Subsample 0,8 und </a:t>
            </a:r>
            <a:r>
              <a:rPr lang="de-DE" sz="1200" kern="1200" dirty="0" err="1">
                <a:solidFill>
                  <a:schemeClr val="tx1"/>
                </a:solidFill>
                <a:effectLst/>
                <a:latin typeface="+mn-lt"/>
                <a:ea typeface="+mn-ea"/>
                <a:cs typeface="+mn-cs"/>
              </a:rPr>
              <a:t>colsample_bytree</a:t>
            </a:r>
            <a:r>
              <a:rPr lang="de-DE" sz="1200" kern="1200" dirty="0">
                <a:solidFill>
                  <a:schemeClr val="tx1"/>
                </a:solidFill>
                <a:effectLst/>
                <a:latin typeface="+mn-lt"/>
                <a:ea typeface="+mn-ea"/>
                <a:cs typeface="+mn-cs"/>
              </a:rPr>
              <a:t> 0,8 für Regularisierung. Und GPU-Beschleunigung – 80 Sekunden Training statt 95 auf CPU.</a:t>
            </a:r>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11</a:t>
            </a:fld>
            <a:endParaRPr lang="de-DE"/>
          </a:p>
        </p:txBody>
      </p:sp>
    </p:spTree>
    <p:extLst>
      <p:ext uri="{BB962C8B-B14F-4D97-AF65-F5344CB8AC3E}">
        <p14:creationId xmlns:p14="http://schemas.microsoft.com/office/powerpoint/2010/main" val="573465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err="1">
                <a:solidFill>
                  <a:schemeClr val="tx1"/>
                </a:solidFill>
                <a:effectLst/>
                <a:latin typeface="+mn-lt"/>
                <a:ea typeface="+mn-ea"/>
                <a:cs typeface="+mn-cs"/>
              </a:rPr>
              <a:t>LightGBM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erreicht</a:t>
            </a:r>
            <a:r>
              <a:rPr lang="en-US" sz="1200" kern="1200" dirty="0">
                <a:solidFill>
                  <a:schemeClr val="tx1"/>
                </a:solidFill>
                <a:effectLst/>
                <a:latin typeface="+mn-lt"/>
                <a:ea typeface="+mn-ea"/>
                <a:cs typeface="+mn-cs"/>
              </a:rPr>
              <a:t> 91,97 </a:t>
            </a:r>
            <a:r>
              <a:rPr lang="en-US" sz="1200" kern="1200" dirty="0" err="1">
                <a:solidFill>
                  <a:schemeClr val="tx1"/>
                </a:solidFill>
                <a:effectLst/>
                <a:latin typeface="+mn-lt"/>
                <a:ea typeface="+mn-ea"/>
                <a:cs typeface="+mn-cs"/>
              </a:rPr>
              <a:t>Prozent</a:t>
            </a:r>
            <a:r>
              <a:rPr lang="en-US" sz="1200" kern="1200" dirty="0">
                <a:solidFill>
                  <a:schemeClr val="tx1"/>
                </a:solidFill>
                <a:effectLst/>
                <a:latin typeface="+mn-lt"/>
                <a:ea typeface="+mn-ea"/>
                <a:cs typeface="+mn-cs"/>
              </a:rPr>
              <a:t> Test-Accuracy. </a:t>
            </a:r>
            <a:r>
              <a:rPr lang="de-DE" sz="1200" kern="1200" dirty="0">
                <a:solidFill>
                  <a:schemeClr val="tx1"/>
                </a:solidFill>
                <a:effectLst/>
                <a:latin typeface="+mn-lt"/>
                <a:ea typeface="+mn-ea"/>
                <a:cs typeface="+mn-cs"/>
              </a:rPr>
              <a:t>Das ist fast 4 Prozent besser als der Random Forest. Der </a:t>
            </a:r>
            <a:r>
              <a:rPr lang="de-DE" sz="1200" kern="1200" dirty="0" err="1">
                <a:solidFill>
                  <a:schemeClr val="tx1"/>
                </a:solidFill>
                <a:effectLst/>
                <a:latin typeface="+mn-lt"/>
                <a:ea typeface="+mn-ea"/>
                <a:cs typeface="+mn-cs"/>
              </a:rPr>
              <a:t>Cohen's</a:t>
            </a:r>
            <a:r>
              <a:rPr lang="de-DE" sz="1200" kern="1200" dirty="0">
                <a:solidFill>
                  <a:schemeClr val="tx1"/>
                </a:solidFill>
                <a:effectLst/>
                <a:latin typeface="+mn-lt"/>
                <a:ea typeface="+mn-ea"/>
                <a:cs typeface="+mn-cs"/>
              </a:rPr>
              <a:t> Kappa ist 0,8698 was eine sehr starke Übereinstimmung ist.</a:t>
            </a:r>
          </a:p>
          <a:p>
            <a:r>
              <a:rPr lang="de-DE" sz="1200" kern="1200" dirty="0">
                <a:solidFill>
                  <a:schemeClr val="tx1"/>
                </a:solidFill>
                <a:effectLst/>
                <a:latin typeface="+mn-lt"/>
                <a:ea typeface="+mn-ea"/>
                <a:cs typeface="+mn-cs"/>
              </a:rPr>
              <a:t>Per-Class F1-Scores: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0,94, </a:t>
            </a:r>
            <a:r>
              <a:rPr lang="de-DE" sz="1200" kern="1200" dirty="0" err="1">
                <a:solidFill>
                  <a:schemeClr val="tx1"/>
                </a:solidFill>
                <a:effectLst/>
                <a:latin typeface="+mn-lt"/>
                <a:ea typeface="+mn-ea"/>
                <a:cs typeface="+mn-cs"/>
              </a:rPr>
              <a:t>Inattentive</a:t>
            </a:r>
            <a:r>
              <a:rPr lang="de-DE" sz="1200" kern="1200" dirty="0">
                <a:solidFill>
                  <a:schemeClr val="tx1"/>
                </a:solidFill>
                <a:effectLst/>
                <a:latin typeface="+mn-lt"/>
                <a:ea typeface="+mn-ea"/>
                <a:cs typeface="+mn-cs"/>
              </a:rPr>
              <a:t> und Aggressive beide 0,90.</a:t>
            </a:r>
          </a:p>
          <a:p>
            <a:r>
              <a:rPr lang="de-DE" sz="1200" kern="1200" dirty="0">
                <a:solidFill>
                  <a:schemeClr val="tx1"/>
                </a:solidFill>
                <a:effectLst/>
                <a:latin typeface="+mn-lt"/>
                <a:ea typeface="+mn-ea"/>
                <a:cs typeface="+mn-cs"/>
              </a:rPr>
              <a:t>Zusammenfassung des Vergleichs: </a:t>
            </a:r>
            <a:r>
              <a:rPr lang="de-DE" sz="1200" kern="1200" dirty="0" err="1">
                <a:solidFill>
                  <a:schemeClr val="tx1"/>
                </a:solidFill>
                <a:effectLst/>
                <a:latin typeface="+mn-lt"/>
                <a:ea typeface="+mn-ea"/>
                <a:cs typeface="+mn-cs"/>
              </a:rPr>
              <a:t>LightGBM</a:t>
            </a:r>
            <a:r>
              <a:rPr lang="de-DE" sz="1200" kern="1200" dirty="0">
                <a:solidFill>
                  <a:schemeClr val="tx1"/>
                </a:solidFill>
                <a:effectLst/>
                <a:latin typeface="+mn-lt"/>
                <a:ea typeface="+mn-ea"/>
                <a:cs typeface="+mn-cs"/>
              </a:rPr>
              <a:t> ist +3,66 Prozent besser in der </a:t>
            </a:r>
            <a:r>
              <a:rPr lang="de-DE" sz="1200" kern="1200" dirty="0" err="1">
                <a:solidFill>
                  <a:schemeClr val="tx1"/>
                </a:solidFill>
                <a:effectLst/>
                <a:latin typeface="+mn-lt"/>
                <a:ea typeface="+mn-ea"/>
                <a:cs typeface="+mn-cs"/>
              </a:rPr>
              <a:t>Accuracy</a:t>
            </a:r>
            <a:r>
              <a:rPr lang="de-DE" sz="1200" kern="1200" dirty="0">
                <a:solidFill>
                  <a:schemeClr val="tx1"/>
                </a:solidFill>
                <a:effectLst/>
                <a:latin typeface="+mn-lt"/>
                <a:ea typeface="+mn-ea"/>
                <a:cs typeface="+mn-cs"/>
              </a:rPr>
              <a:t>, +5,68 Prozent besser in </a:t>
            </a:r>
            <a:r>
              <a:rPr lang="de-DE" sz="1200" kern="1200" dirty="0" err="1">
                <a:solidFill>
                  <a:schemeClr val="tx1"/>
                </a:solidFill>
                <a:effectLst/>
                <a:latin typeface="+mn-lt"/>
                <a:ea typeface="+mn-ea"/>
                <a:cs typeface="+mn-cs"/>
              </a:rPr>
              <a:t>Cohen's</a:t>
            </a:r>
            <a:r>
              <a:rPr lang="de-DE" sz="1200" kern="1200" dirty="0">
                <a:solidFill>
                  <a:schemeClr val="tx1"/>
                </a:solidFill>
                <a:effectLst/>
                <a:latin typeface="+mn-lt"/>
                <a:ea typeface="+mn-ea"/>
                <a:cs typeface="+mn-cs"/>
              </a:rPr>
              <a:t> Kappa. Und das Training war 2,3 mal schneller bei nur 74 Sekunden statt 174 Sekunden. </a:t>
            </a:r>
          </a:p>
          <a:p>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12</a:t>
            </a:fld>
            <a:endParaRPr lang="de-DE"/>
          </a:p>
        </p:txBody>
      </p:sp>
    </p:spTree>
    <p:extLst>
      <p:ext uri="{BB962C8B-B14F-4D97-AF65-F5344CB8AC3E}">
        <p14:creationId xmlns:p14="http://schemas.microsoft.com/office/powerpoint/2010/main" val="1990054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Hier sehen wir die </a:t>
            </a:r>
            <a:r>
              <a:rPr lang="de-DE" sz="1200" kern="1200" dirty="0" err="1">
                <a:solidFill>
                  <a:schemeClr val="tx1"/>
                </a:solidFill>
                <a:effectLst/>
                <a:latin typeface="+mn-lt"/>
                <a:ea typeface="+mn-ea"/>
                <a:cs typeface="+mn-cs"/>
              </a:rPr>
              <a:t>Confusion</a:t>
            </a:r>
            <a:r>
              <a:rPr lang="de-DE" sz="1200" kern="1200" dirty="0">
                <a:solidFill>
                  <a:schemeClr val="tx1"/>
                </a:solidFill>
                <a:effectLst/>
                <a:latin typeface="+mn-lt"/>
                <a:ea typeface="+mn-ea"/>
                <a:cs typeface="+mn-cs"/>
              </a:rPr>
              <a:t> Matrix für </a:t>
            </a:r>
            <a:r>
              <a:rPr lang="de-DE" sz="1200" kern="1200" dirty="0" err="1">
                <a:solidFill>
                  <a:schemeClr val="tx1"/>
                </a:solidFill>
                <a:effectLst/>
                <a:latin typeface="+mn-lt"/>
                <a:ea typeface="+mn-ea"/>
                <a:cs typeface="+mn-cs"/>
              </a:rPr>
              <a:t>LightGBM</a:t>
            </a:r>
            <a:r>
              <a:rPr lang="de-DE" sz="1200" kern="1200" dirty="0">
                <a:solidFill>
                  <a:schemeClr val="tx1"/>
                </a:solidFill>
                <a:effectLst/>
                <a:latin typeface="+mn-lt"/>
                <a:ea typeface="+mn-ea"/>
                <a:cs typeface="+mn-cs"/>
              </a:rPr>
              <a:t>. Die Diagonale – korrekte Klassifikationen – ist sehr dominant.</a:t>
            </a:r>
          </a:p>
          <a:p>
            <a:r>
              <a:rPr lang="de-DE" sz="1200" kern="1200" dirty="0">
                <a:solidFill>
                  <a:schemeClr val="tx1"/>
                </a:solidFill>
                <a:effectLst/>
                <a:latin typeface="+mn-lt"/>
                <a:ea typeface="+mn-ea"/>
                <a:cs typeface="+mn-cs"/>
              </a:rPr>
              <a:t>Für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497.937 richtig, nur 10.009 als </a:t>
            </a:r>
            <a:r>
              <a:rPr lang="de-DE" sz="1200" kern="1200" dirty="0" err="1">
                <a:solidFill>
                  <a:schemeClr val="tx1"/>
                </a:solidFill>
                <a:effectLst/>
                <a:latin typeface="+mn-lt"/>
                <a:ea typeface="+mn-ea"/>
                <a:cs typeface="+mn-cs"/>
              </a:rPr>
              <a:t>Inattentive</a:t>
            </a:r>
            <a:r>
              <a:rPr lang="de-DE" sz="1200" kern="1200" dirty="0">
                <a:solidFill>
                  <a:schemeClr val="tx1"/>
                </a:solidFill>
                <a:effectLst/>
                <a:latin typeface="+mn-lt"/>
                <a:ea typeface="+mn-ea"/>
                <a:cs typeface="+mn-cs"/>
              </a:rPr>
              <a:t> falsch klassifiziert, 16.163 als Aggressive. Das ist eine True-Positive-Rate von 95 Prozent. Der Fahrer ist sehr robust erkannt.</a:t>
            </a:r>
          </a:p>
          <a:p>
            <a:r>
              <a:rPr lang="de-DE" sz="1200" kern="1200" dirty="0">
                <a:solidFill>
                  <a:schemeClr val="tx1"/>
                </a:solidFill>
                <a:effectLst/>
                <a:latin typeface="+mn-lt"/>
                <a:ea typeface="+mn-ea"/>
                <a:cs typeface="+mn-cs"/>
              </a:rPr>
              <a:t>Für </a:t>
            </a:r>
            <a:r>
              <a:rPr lang="de-DE" sz="1200" kern="1200" dirty="0" err="1">
                <a:solidFill>
                  <a:schemeClr val="tx1"/>
                </a:solidFill>
                <a:effectLst/>
                <a:latin typeface="+mn-lt"/>
                <a:ea typeface="+mn-ea"/>
                <a:cs typeface="+mn-cs"/>
              </a:rPr>
              <a:t>Inattentive</a:t>
            </a:r>
            <a:r>
              <a:rPr lang="de-DE" sz="1200" kern="1200" dirty="0">
                <a:solidFill>
                  <a:schemeClr val="tx1"/>
                </a:solidFill>
                <a:effectLst/>
                <a:latin typeface="+mn-lt"/>
                <a:ea typeface="+mn-ea"/>
                <a:cs typeface="+mn-cs"/>
              </a:rPr>
              <a:t>: 218.734 richtig. Aber 22.882 werden fälschlich als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klassifiziert – 9,3 Prozent. Das ist die schwierigste Klasse. Warum? Weil Unaufmerksamkeit subtile Muster sind. Eine kleine Spurabweichung könnte normale Variation sein oder Ablenkung.</a:t>
            </a:r>
          </a:p>
          <a:p>
            <a:r>
              <a:rPr lang="de-DE" sz="1200" kern="1200" dirty="0">
                <a:solidFill>
                  <a:schemeClr val="tx1"/>
                </a:solidFill>
                <a:effectLst/>
                <a:latin typeface="+mn-lt"/>
                <a:ea typeface="+mn-ea"/>
                <a:cs typeface="+mn-cs"/>
              </a:rPr>
              <a:t>Für Aggressive: 228.157 richtig. 15.490 falsch als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 6 Prozent. Das könnte daran liegen, dass erfahrene aggressive Fahrer präzise fahren – hohe Geschwindigkeit, aber niedriger lateral-</a:t>
            </a:r>
            <a:r>
              <a:rPr lang="de-DE" sz="1200" kern="1200" dirty="0" err="1">
                <a:solidFill>
                  <a:schemeClr val="tx1"/>
                </a:solidFill>
                <a:effectLst/>
                <a:latin typeface="+mn-lt"/>
                <a:ea typeface="+mn-ea"/>
                <a:cs typeface="+mn-cs"/>
              </a:rPr>
              <a:t>std.</a:t>
            </a:r>
            <a:r>
              <a:rPr lang="de-DE" sz="1200" kern="1200" dirty="0">
                <a:solidFill>
                  <a:schemeClr val="tx1"/>
                </a:solidFill>
                <a:effectLst/>
                <a:latin typeface="+mn-lt"/>
                <a:ea typeface="+mn-ea"/>
                <a:cs typeface="+mn-cs"/>
              </a:rPr>
              <a:t> Das ist ein interessantes Edge-Case</a:t>
            </a:r>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13</a:t>
            </a:fld>
            <a:endParaRPr lang="de-DE"/>
          </a:p>
        </p:txBody>
      </p:sp>
    </p:spTree>
    <p:extLst>
      <p:ext uri="{BB962C8B-B14F-4D97-AF65-F5344CB8AC3E}">
        <p14:creationId xmlns:p14="http://schemas.microsoft.com/office/powerpoint/2010/main" val="4188352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Der Datensatz: 5 Millionen Samples, 37 Features. 4 Millionen zum Training, 1 Million zum Testen – 80/20 Split </a:t>
            </a:r>
            <a:r>
              <a:rPr lang="de-DE" sz="1200" kern="1200" dirty="0" err="1">
                <a:solidFill>
                  <a:schemeClr val="tx1"/>
                </a:solidFill>
                <a:effectLst/>
                <a:latin typeface="+mn-lt"/>
                <a:ea typeface="+mn-ea"/>
                <a:cs typeface="+mn-cs"/>
              </a:rPr>
              <a:t>session</a:t>
            </a:r>
            <a:r>
              <a:rPr lang="de-DE" sz="1200" kern="1200" dirty="0">
                <a:solidFill>
                  <a:schemeClr val="tx1"/>
                </a:solidFill>
                <a:effectLst/>
                <a:latin typeface="+mn-lt"/>
                <a:ea typeface="+mn-ea"/>
                <a:cs typeface="+mn-cs"/>
              </a:rPr>
              <a:t>-basiert, nicht zufällig, um Datenlecks zu vermeiden. Die Sampling-Rate ist 50 Hz.</a:t>
            </a:r>
          </a:p>
          <a:p>
            <a:r>
              <a:rPr lang="de-DE" sz="1200" kern="1200" dirty="0">
                <a:solidFill>
                  <a:schemeClr val="tx1"/>
                </a:solidFill>
                <a:effectLst/>
                <a:latin typeface="+mn-lt"/>
                <a:ea typeface="+mn-ea"/>
                <a:cs typeface="+mn-cs"/>
              </a:rPr>
              <a:t>Die Label Distribution: 52,5 Prozent </a:t>
            </a:r>
            <a:r>
              <a:rPr lang="de-DE" sz="1200" kern="1200" dirty="0" err="1">
                <a:solidFill>
                  <a:schemeClr val="tx1"/>
                </a:solidFill>
                <a:effectLst/>
                <a:latin typeface="+mn-lt"/>
                <a:ea typeface="+mn-ea"/>
                <a:cs typeface="+mn-cs"/>
              </a:rPr>
              <a:t>Attentive</a:t>
            </a:r>
            <a:r>
              <a:rPr lang="de-DE" sz="1200" kern="1200" dirty="0">
                <a:solidFill>
                  <a:schemeClr val="tx1"/>
                </a:solidFill>
                <a:effectLst/>
                <a:latin typeface="+mn-lt"/>
                <a:ea typeface="+mn-ea"/>
                <a:cs typeface="+mn-cs"/>
              </a:rPr>
              <a:t>, 24,7 Prozent </a:t>
            </a:r>
            <a:r>
              <a:rPr lang="de-DE" sz="1200" kern="1200" dirty="0" err="1">
                <a:solidFill>
                  <a:schemeClr val="tx1"/>
                </a:solidFill>
                <a:effectLst/>
                <a:latin typeface="+mn-lt"/>
                <a:ea typeface="+mn-ea"/>
                <a:cs typeface="+mn-cs"/>
              </a:rPr>
              <a:t>Inattentive</a:t>
            </a:r>
            <a:r>
              <a:rPr lang="de-DE" sz="1200" kern="1200" dirty="0">
                <a:solidFill>
                  <a:schemeClr val="tx1"/>
                </a:solidFill>
                <a:effectLst/>
                <a:latin typeface="+mn-lt"/>
                <a:ea typeface="+mn-ea"/>
                <a:cs typeface="+mn-cs"/>
              </a:rPr>
              <a:t>, 22,8 Prozent Aggressive. Das ist leicht </a:t>
            </a:r>
            <a:r>
              <a:rPr lang="de-DE" sz="1200" kern="1200" dirty="0" err="1">
                <a:solidFill>
                  <a:schemeClr val="tx1"/>
                </a:solidFill>
                <a:effectLst/>
                <a:latin typeface="+mn-lt"/>
                <a:ea typeface="+mn-ea"/>
                <a:cs typeface="+mn-cs"/>
              </a:rPr>
              <a:t>unbalanciert</a:t>
            </a:r>
            <a:r>
              <a:rPr lang="de-DE" sz="1200" kern="1200" dirty="0">
                <a:solidFill>
                  <a:schemeClr val="tx1"/>
                </a:solidFill>
                <a:effectLst/>
                <a:latin typeface="+mn-lt"/>
                <a:ea typeface="+mn-ea"/>
                <a:cs typeface="+mn-cs"/>
              </a:rPr>
              <a:t> – deshalb </a:t>
            </a:r>
            <a:r>
              <a:rPr lang="de-DE" sz="1200" kern="1200" dirty="0" err="1">
                <a:solidFill>
                  <a:schemeClr val="tx1"/>
                </a:solidFill>
                <a:effectLst/>
                <a:latin typeface="+mn-lt"/>
                <a:ea typeface="+mn-ea"/>
                <a:cs typeface="+mn-cs"/>
              </a:rPr>
              <a:t>class_weight</a:t>
            </a: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balanced</a:t>
            </a:r>
            <a:r>
              <a:rPr lang="de-DE" sz="1200" kern="1200" dirty="0">
                <a:solidFill>
                  <a:schemeClr val="tx1"/>
                </a:solidFill>
                <a:effectLst/>
                <a:latin typeface="+mn-lt"/>
                <a:ea typeface="+mn-ea"/>
                <a:cs typeface="+mn-cs"/>
              </a:rPr>
              <a:t>'.</a:t>
            </a:r>
          </a:p>
          <a:p>
            <a:r>
              <a:rPr lang="de-DE" sz="1200" kern="1200" dirty="0">
                <a:solidFill>
                  <a:schemeClr val="tx1"/>
                </a:solidFill>
                <a:effectLst/>
                <a:latin typeface="+mn-lt"/>
                <a:ea typeface="+mn-ea"/>
                <a:cs typeface="+mn-cs"/>
              </a:rPr>
              <a:t>Zusätzlich könnte ich hier eine Korrelationsmatrix zeigen, die zeigt, wie stark Features miteinander korrelieren. Einige Features sind hochkorreliert, z.B. </a:t>
            </a:r>
            <a:r>
              <a:rPr lang="de-DE" sz="1200" kern="1200" dirty="0" err="1">
                <a:solidFill>
                  <a:schemeClr val="tx1"/>
                </a:solidFill>
                <a:effectLst/>
                <a:latin typeface="+mn-lt"/>
                <a:ea typeface="+mn-ea"/>
                <a:cs typeface="+mn-cs"/>
              </a:rPr>
              <a:t>Jerk</a:t>
            </a:r>
            <a:r>
              <a:rPr lang="de-DE" sz="1200" kern="1200" dirty="0">
                <a:solidFill>
                  <a:schemeClr val="tx1"/>
                </a:solidFill>
                <a:effectLst/>
                <a:latin typeface="+mn-lt"/>
                <a:ea typeface="+mn-ea"/>
                <a:cs typeface="+mn-cs"/>
              </a:rPr>
              <a:t> und Beschleunigungsvariabilität – aber das ist physikalisch zu erwarten.</a:t>
            </a:r>
            <a:endParaRPr lang="de-DE" dirty="0"/>
          </a:p>
        </p:txBody>
      </p:sp>
      <p:sp>
        <p:nvSpPr>
          <p:cNvPr id="4" name="Foliennummernplatzhalter 3"/>
          <p:cNvSpPr>
            <a:spLocks noGrp="1"/>
          </p:cNvSpPr>
          <p:nvPr>
            <p:ph type="sldNum" sz="quarter" idx="5"/>
          </p:nvPr>
        </p:nvSpPr>
        <p:spPr/>
        <p:txBody>
          <a:bodyPr/>
          <a:lstStyle/>
          <a:p>
            <a:fld id="{4B634F83-ED6B-47E9-9621-34DEC243B584}" type="slidenum">
              <a:rPr lang="de-DE" smtClean="0"/>
              <a:t>14</a:t>
            </a:fld>
            <a:endParaRPr lang="de-DE"/>
          </a:p>
        </p:txBody>
      </p:sp>
    </p:spTree>
    <p:extLst>
      <p:ext uri="{BB962C8B-B14F-4D97-AF65-F5344CB8AC3E}">
        <p14:creationId xmlns:p14="http://schemas.microsoft.com/office/powerpoint/2010/main" val="1776333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a:solidFill>
                  <a:schemeClr val="tx1"/>
                </a:solidFill>
                <a:effectLst/>
                <a:latin typeface="+mn-lt"/>
                <a:ea typeface="+mn-ea"/>
                <a:cs typeface="+mn-cs"/>
              </a:rPr>
              <a:t>Die Feature </a:t>
            </a:r>
            <a:r>
              <a:rPr lang="de-DE" sz="1200" b="0" i="0" kern="1200" dirty="0" err="1">
                <a:solidFill>
                  <a:schemeClr val="tx1"/>
                </a:solidFill>
                <a:effectLst/>
                <a:latin typeface="+mn-lt"/>
                <a:ea typeface="+mn-ea"/>
                <a:cs typeface="+mn-cs"/>
              </a:rPr>
              <a:t>Importance</a:t>
            </a:r>
            <a:r>
              <a:rPr lang="de-DE" sz="1200" b="0" i="0" kern="1200" dirty="0">
                <a:solidFill>
                  <a:schemeClr val="tx1"/>
                </a:solidFill>
                <a:effectLst/>
                <a:latin typeface="+mn-lt"/>
                <a:ea typeface="+mn-ea"/>
                <a:cs typeface="+mn-cs"/>
              </a:rPr>
              <a:t> zeigt uns wie der Name schon sagt, welche Features am wichtigsten sind.</a:t>
            </a:r>
          </a:p>
          <a:p>
            <a:r>
              <a:rPr lang="de-DE" sz="1200" b="0" i="0" kern="1200" dirty="0">
                <a:solidFill>
                  <a:schemeClr val="tx1"/>
                </a:solidFill>
                <a:effectLst/>
                <a:latin typeface="+mn-lt"/>
                <a:ea typeface="+mn-ea"/>
                <a:cs typeface="+mn-cs"/>
              </a:rPr>
              <a:t>Hier im Diagramm können wir unschwer erkennen das die </a:t>
            </a:r>
            <a:r>
              <a:rPr lang="de-DE" sz="1200" b="0" i="0" kern="1200" dirty="0" err="1">
                <a:solidFill>
                  <a:schemeClr val="tx1"/>
                </a:solidFill>
                <a:effectLst/>
                <a:latin typeface="+mn-lt"/>
                <a:ea typeface="+mn-ea"/>
                <a:cs typeface="+mn-cs"/>
              </a:rPr>
              <a:t>Acceleration</a:t>
            </a:r>
            <a:r>
              <a:rPr lang="de-DE" sz="1200" b="0" i="0" kern="1200" dirty="0">
                <a:solidFill>
                  <a:schemeClr val="tx1"/>
                </a:solidFill>
                <a:effectLst/>
                <a:latin typeface="+mn-lt"/>
                <a:ea typeface="+mn-ea"/>
                <a:cs typeface="+mn-cs"/>
              </a:rPr>
              <a:t> Variabilität das stärkste Signal ist, also die Längen </a:t>
            </a:r>
            <a:r>
              <a:rPr lang="de-DE" sz="1200" b="0" i="0" kern="1200" dirty="0" err="1">
                <a:solidFill>
                  <a:schemeClr val="tx1"/>
                </a:solidFill>
                <a:effectLst/>
                <a:latin typeface="+mn-lt"/>
                <a:ea typeface="+mn-ea"/>
                <a:cs typeface="+mn-cs"/>
              </a:rPr>
              <a:t>beschleuning</a:t>
            </a:r>
            <a:r>
              <a:rPr lang="de-DE" sz="1200" b="0" i="0" kern="1200" dirty="0">
                <a:solidFill>
                  <a:schemeClr val="tx1"/>
                </a:solidFill>
                <a:effectLst/>
                <a:latin typeface="+mn-lt"/>
                <a:ea typeface="+mn-ea"/>
                <a:cs typeface="+mn-cs"/>
              </a:rPr>
              <a:t> ist der beste Indikator dafür ob ein</a:t>
            </a:r>
          </a:p>
          <a:p>
            <a:r>
              <a:rPr lang="de-DE" sz="1200" b="0" i="0" kern="1200" dirty="0">
                <a:solidFill>
                  <a:schemeClr val="tx1"/>
                </a:solidFill>
                <a:effectLst/>
                <a:latin typeface="+mn-lt"/>
                <a:ea typeface="+mn-ea"/>
                <a:cs typeface="+mn-cs"/>
              </a:rPr>
              <a:t>Fahrer </a:t>
            </a:r>
            <a:r>
              <a:rPr lang="de-DE" sz="1200" b="0" i="0" kern="1200" dirty="0" err="1">
                <a:solidFill>
                  <a:schemeClr val="tx1"/>
                </a:solidFill>
                <a:effectLst/>
                <a:latin typeface="+mn-lt"/>
                <a:ea typeface="+mn-ea"/>
                <a:cs typeface="+mn-cs"/>
              </a:rPr>
              <a:t>Agressive</a:t>
            </a:r>
            <a:r>
              <a:rPr lang="de-DE" sz="1200" b="0" i="0" kern="1200" dirty="0">
                <a:solidFill>
                  <a:schemeClr val="tx1"/>
                </a:solidFill>
                <a:effectLst/>
                <a:latin typeface="+mn-lt"/>
                <a:ea typeface="+mn-ea"/>
                <a:cs typeface="+mn-cs"/>
              </a:rPr>
              <a:t> oder Abgelenkt fährt.</a:t>
            </a:r>
          </a:p>
          <a:p>
            <a:r>
              <a:rPr lang="de-DE" sz="1200" b="0" i="0" kern="1200" dirty="0">
                <a:solidFill>
                  <a:schemeClr val="tx1"/>
                </a:solidFill>
                <a:effectLst/>
                <a:latin typeface="+mn-lt"/>
                <a:ea typeface="+mn-ea"/>
                <a:cs typeface="+mn-cs"/>
              </a:rPr>
              <a:t>Direkt dahinter ist die Ruckartigkeit und ist fast genau so wichtig.</a:t>
            </a:r>
          </a:p>
          <a:p>
            <a:r>
              <a:rPr lang="de-DE" sz="1200" b="0" i="0" kern="1200" dirty="0">
                <a:solidFill>
                  <a:schemeClr val="tx1"/>
                </a:solidFill>
                <a:effectLst/>
                <a:latin typeface="+mn-lt"/>
                <a:ea typeface="+mn-ea"/>
                <a:cs typeface="+mn-cs"/>
              </a:rPr>
              <a:t>Danach kommt der </a:t>
            </a:r>
            <a:r>
              <a:rPr lang="de-DE" sz="1200" b="0" i="0" kern="1200" dirty="0" err="1">
                <a:solidFill>
                  <a:schemeClr val="tx1"/>
                </a:solidFill>
                <a:effectLst/>
                <a:latin typeface="+mn-lt"/>
                <a:ea typeface="+mn-ea"/>
                <a:cs typeface="+mn-cs"/>
              </a:rPr>
              <a:t>Throttle</a:t>
            </a:r>
            <a:r>
              <a:rPr lang="de-DE" sz="1200" b="0" i="0" kern="1200" dirty="0">
                <a:solidFill>
                  <a:schemeClr val="tx1"/>
                </a:solidFill>
                <a:effectLst/>
                <a:latin typeface="+mn-lt"/>
                <a:ea typeface="+mn-ea"/>
                <a:cs typeface="+mn-cs"/>
              </a:rPr>
              <a:t> Change</a:t>
            </a:r>
          </a:p>
          <a:p>
            <a:r>
              <a:rPr lang="de-DE" sz="1200" b="0" i="0" kern="1200" dirty="0">
                <a:solidFill>
                  <a:schemeClr val="tx1"/>
                </a:solidFill>
                <a:effectLst/>
                <a:latin typeface="+mn-lt"/>
                <a:ea typeface="+mn-ea"/>
                <a:cs typeface="+mn-cs"/>
              </a:rPr>
              <a:t>Die Geschwindigkeit, Die Lenkung und erst danach kommt die Gaze-Off Road Ratio was ein wenig überraschend ist, das kann aber daran liegen das die Parameter dafür besser angepasst werden müssen.</a:t>
            </a:r>
          </a:p>
          <a:p>
            <a:endParaRPr lang="de-DE" sz="1200" b="0" i="0" kern="1200" dirty="0">
              <a:solidFill>
                <a:schemeClr val="tx1"/>
              </a:solidFill>
              <a:effectLst/>
              <a:latin typeface="+mn-lt"/>
              <a:ea typeface="+mn-ea"/>
              <a:cs typeface="+mn-cs"/>
            </a:endParaRPr>
          </a:p>
        </p:txBody>
      </p:sp>
      <p:sp>
        <p:nvSpPr>
          <p:cNvPr id="4" name="Foliennummernplatzhalter 3"/>
          <p:cNvSpPr>
            <a:spLocks noGrp="1"/>
          </p:cNvSpPr>
          <p:nvPr>
            <p:ph type="sldNum" sz="quarter" idx="5"/>
          </p:nvPr>
        </p:nvSpPr>
        <p:spPr/>
        <p:txBody>
          <a:bodyPr/>
          <a:lstStyle/>
          <a:p>
            <a:fld id="{4B634F83-ED6B-47E9-9621-34DEC243B584}" type="slidenum">
              <a:rPr lang="de-DE" smtClean="0"/>
              <a:t>15</a:t>
            </a:fld>
            <a:endParaRPr lang="de-DE"/>
          </a:p>
        </p:txBody>
      </p:sp>
    </p:spTree>
    <p:extLst>
      <p:ext uri="{BB962C8B-B14F-4D97-AF65-F5344CB8AC3E}">
        <p14:creationId xmlns:p14="http://schemas.microsoft.com/office/powerpoint/2010/main" val="2881352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effectLst/>
                <a:latin typeface="+mn-lt"/>
                <a:ea typeface="+mn-ea"/>
                <a:cs typeface="+mn-cs"/>
              </a:rPr>
              <a:t>Zusammenfassung: Wir haben eine vollständig datengesteuerte Pipeline entwickelt. Das ist ein großer Schritt gegenüber bestehenden Systemen, die entweder primitive Sensoren nutzen oder manuelle Labels brauchen.</a:t>
            </a:r>
          </a:p>
          <a:p>
            <a:r>
              <a:rPr lang="de-DE" sz="1200" kern="1200" dirty="0">
                <a:solidFill>
                  <a:schemeClr val="tx1"/>
                </a:solidFill>
                <a:effectLst/>
                <a:latin typeface="+mn-lt"/>
                <a:ea typeface="+mn-ea"/>
                <a:cs typeface="+mn-cs"/>
              </a:rPr>
              <a:t>Schlüsselergebnisse: 91,97 Prozent </a:t>
            </a:r>
            <a:r>
              <a:rPr lang="de-DE" sz="1200" kern="1200" dirty="0" err="1">
                <a:solidFill>
                  <a:schemeClr val="tx1"/>
                </a:solidFill>
                <a:effectLst/>
                <a:latin typeface="+mn-lt"/>
                <a:ea typeface="+mn-ea"/>
                <a:cs typeface="+mn-cs"/>
              </a:rPr>
              <a:t>Accuracy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Cohen's</a:t>
            </a:r>
            <a:r>
              <a:rPr lang="de-DE" sz="1200" kern="1200" dirty="0">
                <a:solidFill>
                  <a:schemeClr val="tx1"/>
                </a:solidFill>
                <a:effectLst/>
                <a:latin typeface="+mn-lt"/>
                <a:ea typeface="+mn-ea"/>
                <a:cs typeface="+mn-cs"/>
              </a:rPr>
              <a:t> Kappa 0,87, alles ohne eine einzige manuelle Annotation. Das funktioniert, weil unser Absolute-Threshold-</a:t>
            </a:r>
            <a:r>
              <a:rPr lang="de-DE" sz="1200" kern="1200" dirty="0" err="1">
                <a:solidFill>
                  <a:schemeClr val="tx1"/>
                </a:solidFill>
                <a:effectLst/>
                <a:latin typeface="+mn-lt"/>
                <a:ea typeface="+mn-ea"/>
                <a:cs typeface="+mn-cs"/>
              </a:rPr>
              <a:t>Labeler</a:t>
            </a:r>
            <a:r>
              <a:rPr lang="de-DE" sz="1200" kern="1200" dirty="0">
                <a:solidFill>
                  <a:schemeClr val="tx1"/>
                </a:solidFill>
                <a:effectLst/>
                <a:latin typeface="+mn-lt"/>
                <a:ea typeface="+mn-ea"/>
                <a:cs typeface="+mn-cs"/>
              </a:rPr>
              <a:t> logisch und physikalisch interpretierbar ist.</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Aber es gibt 2 Große Probleme.</a:t>
            </a:r>
          </a:p>
          <a:p>
            <a:r>
              <a:rPr lang="de-DE" sz="1200" kern="1200" dirty="0">
                <a:solidFill>
                  <a:schemeClr val="tx1"/>
                </a:solidFill>
                <a:effectLst/>
                <a:latin typeface="+mn-lt"/>
                <a:ea typeface="+mn-ea"/>
                <a:cs typeface="+mn-cs"/>
              </a:rPr>
              <a:t>Das erste ist wir können uns nicht zu 100% sicher sein ob die Label auch wirklich gut sind, was sehr kritisch ist da das ganze Model von der Label Qualität abhängt.</a:t>
            </a:r>
          </a:p>
          <a:p>
            <a:r>
              <a:rPr lang="de-DE" sz="1200" kern="1200" dirty="0">
                <a:solidFill>
                  <a:schemeClr val="tx1"/>
                </a:solidFill>
                <a:effectLst/>
                <a:latin typeface="+mn-lt"/>
                <a:ea typeface="+mn-ea"/>
                <a:cs typeface="+mn-cs"/>
              </a:rPr>
              <a:t>Und zweitens ist das die Daten in einem Fahrsimulator gesammelt wurde.</a:t>
            </a:r>
          </a:p>
          <a:p>
            <a:r>
              <a:rPr lang="de-DE" sz="1200" kern="1200" dirty="0">
                <a:solidFill>
                  <a:schemeClr val="tx1"/>
                </a:solidFill>
                <a:effectLst/>
                <a:latin typeface="+mn-lt"/>
                <a:ea typeface="+mn-ea"/>
                <a:cs typeface="+mn-cs"/>
              </a:rPr>
              <a:t>In einem Simulator kann es durchaus sein das eine Person ganz anders fährt da sie keine Gefahren war nehmen und das Sachen wie Headsets Übelkeit auslesen können und so die Daten </a:t>
            </a:r>
            <a:r>
              <a:rPr lang="de-DE" sz="1200" kern="1200" dirty="0" err="1">
                <a:solidFill>
                  <a:schemeClr val="tx1"/>
                </a:solidFill>
                <a:effectLst/>
                <a:latin typeface="+mn-lt"/>
                <a:ea typeface="+mn-ea"/>
                <a:cs typeface="+mn-cs"/>
              </a:rPr>
              <a:t>beinflussen</a:t>
            </a:r>
            <a:r>
              <a:rPr lang="de-DE" sz="1200" kern="1200" dirty="0">
                <a:solidFill>
                  <a:schemeClr val="tx1"/>
                </a:solidFill>
                <a:effectLst/>
                <a:latin typeface="+mn-lt"/>
                <a:ea typeface="+mn-ea"/>
                <a:cs typeface="+mn-cs"/>
              </a:rPr>
              <a:t>.</a:t>
            </a:r>
          </a:p>
        </p:txBody>
      </p:sp>
      <p:sp>
        <p:nvSpPr>
          <p:cNvPr id="4" name="Foliennummernplatzhalter 3"/>
          <p:cNvSpPr>
            <a:spLocks noGrp="1"/>
          </p:cNvSpPr>
          <p:nvPr>
            <p:ph type="sldNum" sz="quarter" idx="5"/>
          </p:nvPr>
        </p:nvSpPr>
        <p:spPr/>
        <p:txBody>
          <a:bodyPr/>
          <a:lstStyle/>
          <a:p>
            <a:fld id="{4B634F83-ED6B-47E9-9621-34DEC243B584}" type="slidenum">
              <a:rPr lang="de-DE" smtClean="0"/>
              <a:t>16</a:t>
            </a:fld>
            <a:endParaRPr lang="de-DE"/>
          </a:p>
        </p:txBody>
      </p:sp>
    </p:spTree>
    <p:extLst>
      <p:ext uri="{BB962C8B-B14F-4D97-AF65-F5344CB8AC3E}">
        <p14:creationId xmlns:p14="http://schemas.microsoft.com/office/powerpoint/2010/main" val="1818902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3FF2A-5435-8453-DABE-CE8E6C580BE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10FD3B3E-47D9-4FF4-226F-45EDE75F00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4639AFB8-B484-2DE2-AF13-2730610FC3D3}"/>
              </a:ext>
            </a:extLst>
          </p:cNvPr>
          <p:cNvSpPr>
            <a:spLocks noGrp="1"/>
          </p:cNvSpPr>
          <p:nvPr>
            <p:ph type="dt" sz="half" idx="10"/>
          </p:nvPr>
        </p:nvSpPr>
        <p:spPr/>
        <p:txBody>
          <a:bodyPr/>
          <a:lstStyle/>
          <a:p>
            <a:fld id="{1651E93D-4AB8-45B6-B609-AEA29EB386A3}" type="datetime1">
              <a:rPr lang="de-DE" smtClean="0"/>
              <a:t>23.01.2026</a:t>
            </a:fld>
            <a:endParaRPr lang="de-DE"/>
          </a:p>
        </p:txBody>
      </p:sp>
      <p:sp>
        <p:nvSpPr>
          <p:cNvPr id="5" name="Fußzeilenplatzhalter 4">
            <a:extLst>
              <a:ext uri="{FF2B5EF4-FFF2-40B4-BE49-F238E27FC236}">
                <a16:creationId xmlns:a16="http://schemas.microsoft.com/office/drawing/2014/main" id="{B639CE40-AB22-CCD5-AB8A-CC377F3B37F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F847B94-E451-767E-7678-6EF890435ED0}"/>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90932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4BDCE6-77C9-0C43-BF83-86EEF44EABC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FFE9923-D4AE-26CB-9B0D-FE358AEC949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6C21464-59CC-5AFB-9DE1-85C75101296C}"/>
              </a:ext>
            </a:extLst>
          </p:cNvPr>
          <p:cNvSpPr>
            <a:spLocks noGrp="1"/>
          </p:cNvSpPr>
          <p:nvPr>
            <p:ph type="dt" sz="half" idx="10"/>
          </p:nvPr>
        </p:nvSpPr>
        <p:spPr/>
        <p:txBody>
          <a:bodyPr/>
          <a:lstStyle/>
          <a:p>
            <a:fld id="{CFC872E8-DEFA-4D91-9D3D-CD26D76CC377}" type="datetime1">
              <a:rPr lang="de-DE" smtClean="0"/>
              <a:t>23.01.2026</a:t>
            </a:fld>
            <a:endParaRPr lang="de-DE"/>
          </a:p>
        </p:txBody>
      </p:sp>
      <p:sp>
        <p:nvSpPr>
          <p:cNvPr id="5" name="Fußzeilenplatzhalter 4">
            <a:extLst>
              <a:ext uri="{FF2B5EF4-FFF2-40B4-BE49-F238E27FC236}">
                <a16:creationId xmlns:a16="http://schemas.microsoft.com/office/drawing/2014/main" id="{D7BD8097-77DD-8200-4CFB-45AE027B0F1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E65B404-031B-9161-C49F-1D2308E5106C}"/>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3415954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334319-E87E-A11A-B876-A55AF3AC104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D4D69419-3E79-858A-BB42-84CA99A694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36657204-916F-F8CB-BD98-485A1760ED8E}"/>
              </a:ext>
            </a:extLst>
          </p:cNvPr>
          <p:cNvSpPr>
            <a:spLocks noGrp="1"/>
          </p:cNvSpPr>
          <p:nvPr>
            <p:ph type="dt" sz="half" idx="10"/>
          </p:nvPr>
        </p:nvSpPr>
        <p:spPr/>
        <p:txBody>
          <a:bodyPr/>
          <a:lstStyle/>
          <a:p>
            <a:fld id="{DF7A0C6F-DD96-4504-B333-471D4762AD89}" type="datetime1">
              <a:rPr lang="de-DE" smtClean="0"/>
              <a:t>23.01.2026</a:t>
            </a:fld>
            <a:endParaRPr lang="de-DE"/>
          </a:p>
        </p:txBody>
      </p:sp>
      <p:sp>
        <p:nvSpPr>
          <p:cNvPr id="5" name="Fußzeilenplatzhalter 4">
            <a:extLst>
              <a:ext uri="{FF2B5EF4-FFF2-40B4-BE49-F238E27FC236}">
                <a16:creationId xmlns:a16="http://schemas.microsoft.com/office/drawing/2014/main" id="{0DA2C57C-C21D-C9E2-A8E2-8720FCDE853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2A489E4-939D-64AD-6B16-2DA5C9A977CD}"/>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4195207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6964D2-9240-0A16-0889-A13233E4667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4B24207E-FA61-9AC9-BAD9-81362FED19F8}"/>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D1BBEBA8-D1F3-B3D4-F132-51D925E976AB}"/>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0BAC0E7D-1453-64AD-79B3-7C83CFD3F087}"/>
              </a:ext>
            </a:extLst>
          </p:cNvPr>
          <p:cNvSpPr>
            <a:spLocks noGrp="1"/>
          </p:cNvSpPr>
          <p:nvPr>
            <p:ph type="dt" sz="half" idx="10"/>
          </p:nvPr>
        </p:nvSpPr>
        <p:spPr/>
        <p:txBody>
          <a:bodyPr/>
          <a:lstStyle/>
          <a:p>
            <a:fld id="{A5E4E5D0-E886-44BA-8AD6-2AFC211758B8}" type="datetime1">
              <a:rPr lang="de-DE" smtClean="0"/>
              <a:t>23.01.2026</a:t>
            </a:fld>
            <a:endParaRPr lang="de-DE"/>
          </a:p>
        </p:txBody>
      </p:sp>
      <p:sp>
        <p:nvSpPr>
          <p:cNvPr id="6" name="Fußzeilenplatzhalter 5">
            <a:extLst>
              <a:ext uri="{FF2B5EF4-FFF2-40B4-BE49-F238E27FC236}">
                <a16:creationId xmlns:a16="http://schemas.microsoft.com/office/drawing/2014/main" id="{7B2A25E3-C3A0-2811-F0AA-73D04715A41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37ED7D4-D89A-6A82-A96B-3CB7DC250221}"/>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127514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48BC63-5510-3CF5-6B1B-51F77994BA0C}"/>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CCFD80F0-1942-DCE1-A0CA-ADC1742F0A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B57CDB0-1D28-131C-453C-6B25A16CE480}"/>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E4DFC0CD-0719-1975-17BD-53328DA95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3AF86CA7-7B2D-D2FA-DD31-CCA805A7C53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012ED96-309A-45C3-4B1F-559709A5739B}"/>
              </a:ext>
            </a:extLst>
          </p:cNvPr>
          <p:cNvSpPr>
            <a:spLocks noGrp="1"/>
          </p:cNvSpPr>
          <p:nvPr>
            <p:ph type="dt" sz="half" idx="10"/>
          </p:nvPr>
        </p:nvSpPr>
        <p:spPr/>
        <p:txBody>
          <a:bodyPr/>
          <a:lstStyle/>
          <a:p>
            <a:fld id="{0F59DABC-5A3E-4F98-B47E-014EABF73D72}" type="datetime1">
              <a:rPr lang="de-DE" smtClean="0"/>
              <a:t>23.01.2026</a:t>
            </a:fld>
            <a:endParaRPr lang="de-DE"/>
          </a:p>
        </p:txBody>
      </p:sp>
      <p:sp>
        <p:nvSpPr>
          <p:cNvPr id="8" name="Fußzeilenplatzhalter 7">
            <a:extLst>
              <a:ext uri="{FF2B5EF4-FFF2-40B4-BE49-F238E27FC236}">
                <a16:creationId xmlns:a16="http://schemas.microsoft.com/office/drawing/2014/main" id="{C47DB9AF-F834-67AF-AE13-1730B8D2411E}"/>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FF567945-23C5-6594-4FBD-230DB068FCE9}"/>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128855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973306-5DF4-1EBC-C35C-0FF3E5513D87}"/>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FE90BB10-7D7D-8758-0D00-E10081A77E91}"/>
              </a:ext>
            </a:extLst>
          </p:cNvPr>
          <p:cNvSpPr>
            <a:spLocks noGrp="1"/>
          </p:cNvSpPr>
          <p:nvPr>
            <p:ph type="dt" sz="half" idx="10"/>
          </p:nvPr>
        </p:nvSpPr>
        <p:spPr/>
        <p:txBody>
          <a:bodyPr/>
          <a:lstStyle/>
          <a:p>
            <a:fld id="{D4AE09D9-443D-4306-BDB4-F2ECF50C1A9B}" type="datetime1">
              <a:rPr lang="de-DE" smtClean="0"/>
              <a:t>23.01.2026</a:t>
            </a:fld>
            <a:endParaRPr lang="de-DE"/>
          </a:p>
        </p:txBody>
      </p:sp>
      <p:sp>
        <p:nvSpPr>
          <p:cNvPr id="4" name="Fußzeilenplatzhalter 3">
            <a:extLst>
              <a:ext uri="{FF2B5EF4-FFF2-40B4-BE49-F238E27FC236}">
                <a16:creationId xmlns:a16="http://schemas.microsoft.com/office/drawing/2014/main" id="{97B16891-2EC8-78CF-CB75-555DFC87637B}"/>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FA1E0DEC-92C7-3EB2-88D1-2CFE8625D897}"/>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662794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C4793F4-9505-12A9-5780-E20A0E60C0BA}"/>
              </a:ext>
            </a:extLst>
          </p:cNvPr>
          <p:cNvSpPr>
            <a:spLocks noGrp="1"/>
          </p:cNvSpPr>
          <p:nvPr>
            <p:ph type="dt" sz="half" idx="10"/>
          </p:nvPr>
        </p:nvSpPr>
        <p:spPr/>
        <p:txBody>
          <a:bodyPr/>
          <a:lstStyle/>
          <a:p>
            <a:fld id="{09C40176-B5F6-409F-8B8C-E7160571B420}" type="datetime1">
              <a:rPr lang="de-DE" smtClean="0"/>
              <a:t>23.01.2026</a:t>
            </a:fld>
            <a:endParaRPr lang="de-DE"/>
          </a:p>
        </p:txBody>
      </p:sp>
      <p:sp>
        <p:nvSpPr>
          <p:cNvPr id="3" name="Fußzeilenplatzhalter 2">
            <a:extLst>
              <a:ext uri="{FF2B5EF4-FFF2-40B4-BE49-F238E27FC236}">
                <a16:creationId xmlns:a16="http://schemas.microsoft.com/office/drawing/2014/main" id="{1EA8879C-1A65-0376-FC8B-38D551E2625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D3493C16-59D0-C463-5314-996492156A86}"/>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2918975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AB1519-37B6-24F9-06BE-0E8F6291F13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7F0545D8-954C-7B51-11B4-BD7348A48A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8137405F-9593-FAF4-3689-4E00CD36A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F84463A-5E51-0F97-C724-5551417A335C}"/>
              </a:ext>
            </a:extLst>
          </p:cNvPr>
          <p:cNvSpPr>
            <a:spLocks noGrp="1"/>
          </p:cNvSpPr>
          <p:nvPr>
            <p:ph type="dt" sz="half" idx="10"/>
          </p:nvPr>
        </p:nvSpPr>
        <p:spPr/>
        <p:txBody>
          <a:bodyPr/>
          <a:lstStyle/>
          <a:p>
            <a:fld id="{3E9E724E-7835-4083-A605-8A97473F4140}" type="datetime1">
              <a:rPr lang="de-DE" smtClean="0"/>
              <a:t>23.01.2026</a:t>
            </a:fld>
            <a:endParaRPr lang="de-DE"/>
          </a:p>
        </p:txBody>
      </p:sp>
      <p:sp>
        <p:nvSpPr>
          <p:cNvPr id="6" name="Fußzeilenplatzhalter 5">
            <a:extLst>
              <a:ext uri="{FF2B5EF4-FFF2-40B4-BE49-F238E27FC236}">
                <a16:creationId xmlns:a16="http://schemas.microsoft.com/office/drawing/2014/main" id="{96B64A4A-F6B9-A6AC-5769-691B0DA4B32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EB3794A-E5A6-43A8-811B-4EEB9006882B}"/>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98908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D15FE6-7F74-FBDB-E99B-E110840DCAB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787DBC6E-35F8-68B3-92CB-A42B96446D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A295794F-A5C2-D753-C553-51594FE4DB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C057472-B953-E972-B019-2FE86250D46A}"/>
              </a:ext>
            </a:extLst>
          </p:cNvPr>
          <p:cNvSpPr>
            <a:spLocks noGrp="1"/>
          </p:cNvSpPr>
          <p:nvPr>
            <p:ph type="dt" sz="half" idx="10"/>
          </p:nvPr>
        </p:nvSpPr>
        <p:spPr/>
        <p:txBody>
          <a:bodyPr/>
          <a:lstStyle/>
          <a:p>
            <a:fld id="{F8EA404E-750C-44E1-A6CD-C2DDB273CDD1}" type="datetime1">
              <a:rPr lang="de-DE" smtClean="0"/>
              <a:t>23.01.2026</a:t>
            </a:fld>
            <a:endParaRPr lang="de-DE"/>
          </a:p>
        </p:txBody>
      </p:sp>
      <p:sp>
        <p:nvSpPr>
          <p:cNvPr id="6" name="Fußzeilenplatzhalter 5">
            <a:extLst>
              <a:ext uri="{FF2B5EF4-FFF2-40B4-BE49-F238E27FC236}">
                <a16:creationId xmlns:a16="http://schemas.microsoft.com/office/drawing/2014/main" id="{0B5581B9-EF64-5F74-76F1-62E2FC2891D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60D7617B-C939-80B8-0692-0F95E5157086}"/>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116631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2B7EA3-BFF8-13D4-71BE-B6CECC8E7523}"/>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5F054C9B-4883-720B-7123-A2D09E9C653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0450662-B15E-90C5-EAC4-D69EBA4C3FBE}"/>
              </a:ext>
            </a:extLst>
          </p:cNvPr>
          <p:cNvSpPr>
            <a:spLocks noGrp="1"/>
          </p:cNvSpPr>
          <p:nvPr>
            <p:ph type="dt" sz="half" idx="10"/>
          </p:nvPr>
        </p:nvSpPr>
        <p:spPr/>
        <p:txBody>
          <a:bodyPr/>
          <a:lstStyle/>
          <a:p>
            <a:fld id="{D6982C61-0BB1-455D-A3ED-733C5097ED24}" type="datetime1">
              <a:rPr lang="de-DE" smtClean="0"/>
              <a:t>23.01.2026</a:t>
            </a:fld>
            <a:endParaRPr lang="de-DE"/>
          </a:p>
        </p:txBody>
      </p:sp>
      <p:sp>
        <p:nvSpPr>
          <p:cNvPr id="5" name="Fußzeilenplatzhalter 4">
            <a:extLst>
              <a:ext uri="{FF2B5EF4-FFF2-40B4-BE49-F238E27FC236}">
                <a16:creationId xmlns:a16="http://schemas.microsoft.com/office/drawing/2014/main" id="{3156DFA8-AB07-57DE-5D31-8266CDAE0D3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D683C76-A1A4-8951-F7D0-99D24F41483C}"/>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2256457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9C42B08-F41A-E556-8DAA-7F337BFB7480}"/>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2535B838-4948-8098-288E-9863E62E210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E708ED8-C073-B7B8-8B61-3E809FC69C4B}"/>
              </a:ext>
            </a:extLst>
          </p:cNvPr>
          <p:cNvSpPr>
            <a:spLocks noGrp="1"/>
          </p:cNvSpPr>
          <p:nvPr>
            <p:ph type="dt" sz="half" idx="10"/>
          </p:nvPr>
        </p:nvSpPr>
        <p:spPr/>
        <p:txBody>
          <a:bodyPr/>
          <a:lstStyle/>
          <a:p>
            <a:fld id="{A32C44F1-C267-4268-BA47-2D4A03A77D1A}" type="datetime1">
              <a:rPr lang="de-DE" smtClean="0"/>
              <a:t>23.01.2026</a:t>
            </a:fld>
            <a:endParaRPr lang="de-DE"/>
          </a:p>
        </p:txBody>
      </p:sp>
      <p:sp>
        <p:nvSpPr>
          <p:cNvPr id="5" name="Fußzeilenplatzhalter 4">
            <a:extLst>
              <a:ext uri="{FF2B5EF4-FFF2-40B4-BE49-F238E27FC236}">
                <a16:creationId xmlns:a16="http://schemas.microsoft.com/office/drawing/2014/main" id="{14985569-25DD-FD27-A950-CDE5A2E76B5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9A023EC-75C1-588D-A413-A5E2841CBCC0}"/>
              </a:ext>
            </a:extLst>
          </p:cNvPr>
          <p:cNvSpPr>
            <a:spLocks noGrp="1"/>
          </p:cNvSpPr>
          <p:nvPr>
            <p:ph type="sldNum" sz="quarter" idx="12"/>
          </p:nvPr>
        </p:nvSpPr>
        <p:spPr/>
        <p:txBody>
          <a:bodyPr/>
          <a:lstStyle/>
          <a:p>
            <a:fld id="{C1E9208F-C39B-4C02-96DE-7FDA3955F0A6}" type="slidenum">
              <a:rPr lang="de-DE" smtClean="0"/>
              <a:t>‹Nr.›</a:t>
            </a:fld>
            <a:endParaRPr lang="de-DE"/>
          </a:p>
        </p:txBody>
      </p:sp>
    </p:spTree>
    <p:extLst>
      <p:ext uri="{BB962C8B-B14F-4D97-AF65-F5344CB8AC3E}">
        <p14:creationId xmlns:p14="http://schemas.microsoft.com/office/powerpoint/2010/main" val="757160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9030FBAF-00AA-C15A-0B52-2E3F75ECBD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151A95F-BC26-0A06-AFC7-F7E17222C6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46F8D75-104D-FD18-BD24-BDD29C4B7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C7E92E-9716-46D0-871B-6AAE796218B8}" type="datetime1">
              <a:rPr lang="de-DE" smtClean="0"/>
              <a:t>23.01.2026</a:t>
            </a:fld>
            <a:endParaRPr lang="de-DE"/>
          </a:p>
        </p:txBody>
      </p:sp>
      <p:sp>
        <p:nvSpPr>
          <p:cNvPr id="5" name="Fußzeilenplatzhalter 4">
            <a:extLst>
              <a:ext uri="{FF2B5EF4-FFF2-40B4-BE49-F238E27FC236}">
                <a16:creationId xmlns:a16="http://schemas.microsoft.com/office/drawing/2014/main" id="{A1AEE665-BAA7-EFBC-829B-1042005719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535F2FF1-6F13-6D39-6A6D-35E1E1CACD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E9208F-C39B-4C02-96DE-7FDA3955F0A6}" type="slidenum">
              <a:rPr lang="de-DE" smtClean="0"/>
              <a:t>‹Nr.›</a:t>
            </a:fld>
            <a:endParaRPr lang="de-DE"/>
          </a:p>
        </p:txBody>
      </p:sp>
    </p:spTree>
    <p:extLst>
      <p:ext uri="{BB962C8B-B14F-4D97-AF65-F5344CB8AC3E}">
        <p14:creationId xmlns:p14="http://schemas.microsoft.com/office/powerpoint/2010/main" val="1569346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9F2931-70EC-414E-8957-39CC893D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8FFBE11-4B3E-48D7-94D4-2EC8CC9FE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79720"/>
            <a:ext cx="12192000" cy="3378280"/>
          </a:xfrm>
          <a:custGeom>
            <a:avLst/>
            <a:gdLst>
              <a:gd name="connsiteX0" fmla="*/ 0 w 12192000"/>
              <a:gd name="connsiteY0" fmla="*/ 0 h 3378280"/>
              <a:gd name="connsiteX1" fmla="*/ 13973 w 12192000"/>
              <a:gd name="connsiteY1" fmla="*/ 3431 h 3378280"/>
              <a:gd name="connsiteX2" fmla="*/ 86774 w 12192000"/>
              <a:gd name="connsiteY2" fmla="*/ 43536 h 3378280"/>
              <a:gd name="connsiteX3" fmla="*/ 229780 w 12192000"/>
              <a:gd name="connsiteY3" fmla="*/ 145557 h 3378280"/>
              <a:gd name="connsiteX4" fmla="*/ 302639 w 12192000"/>
              <a:gd name="connsiteY4" fmla="*/ 203425 h 3378280"/>
              <a:gd name="connsiteX5" fmla="*/ 348081 w 12192000"/>
              <a:gd name="connsiteY5" fmla="*/ 187174 h 3378280"/>
              <a:gd name="connsiteX6" fmla="*/ 436950 w 12192000"/>
              <a:gd name="connsiteY6" fmla="*/ 184066 h 3378280"/>
              <a:gd name="connsiteX7" fmla="*/ 501693 w 12192000"/>
              <a:gd name="connsiteY7" fmla="*/ 233225 h 3378280"/>
              <a:gd name="connsiteX8" fmla="*/ 557201 w 12192000"/>
              <a:gd name="connsiteY8" fmla="*/ 312390 h 3378280"/>
              <a:gd name="connsiteX9" fmla="*/ 617648 w 12192000"/>
              <a:gd name="connsiteY9" fmla="*/ 333897 h 3378280"/>
              <a:gd name="connsiteX10" fmla="*/ 692332 w 12192000"/>
              <a:gd name="connsiteY10" fmla="*/ 386327 h 3378280"/>
              <a:gd name="connsiteX11" fmla="*/ 802009 w 12192000"/>
              <a:gd name="connsiteY11" fmla="*/ 419027 h 3378280"/>
              <a:gd name="connsiteX12" fmla="*/ 914003 w 12192000"/>
              <a:gd name="connsiteY12" fmla="*/ 475419 h 3378280"/>
              <a:gd name="connsiteX13" fmla="*/ 938561 w 12192000"/>
              <a:gd name="connsiteY13" fmla="*/ 472887 h 3378280"/>
              <a:gd name="connsiteX14" fmla="*/ 1035683 w 12192000"/>
              <a:gd name="connsiteY14" fmla="*/ 486697 h 3378280"/>
              <a:gd name="connsiteX15" fmla="*/ 1035757 w 12192000"/>
              <a:gd name="connsiteY15" fmla="*/ 486731 h 3378280"/>
              <a:gd name="connsiteX16" fmla="*/ 1074336 w 12192000"/>
              <a:gd name="connsiteY16" fmla="*/ 494465 h 3378280"/>
              <a:gd name="connsiteX17" fmla="*/ 1285084 w 12192000"/>
              <a:gd name="connsiteY17" fmla="*/ 589112 h 3378280"/>
              <a:gd name="connsiteX18" fmla="*/ 1409116 w 12192000"/>
              <a:gd name="connsiteY18" fmla="*/ 656332 h 3378280"/>
              <a:gd name="connsiteX19" fmla="*/ 1533725 w 12192000"/>
              <a:gd name="connsiteY19" fmla="*/ 699179 h 3378280"/>
              <a:gd name="connsiteX20" fmla="*/ 1636242 w 12192000"/>
              <a:gd name="connsiteY20" fmla="*/ 741533 h 3378280"/>
              <a:gd name="connsiteX21" fmla="*/ 1704848 w 12192000"/>
              <a:gd name="connsiteY21" fmla="*/ 770749 h 3378280"/>
              <a:gd name="connsiteX22" fmla="*/ 1718292 w 12192000"/>
              <a:gd name="connsiteY22" fmla="*/ 781051 h 3378280"/>
              <a:gd name="connsiteX23" fmla="*/ 1720835 w 12192000"/>
              <a:gd name="connsiteY23" fmla="*/ 781117 h 3378280"/>
              <a:gd name="connsiteX24" fmla="*/ 1753341 w 12192000"/>
              <a:gd name="connsiteY24" fmla="*/ 800301 h 3378280"/>
              <a:gd name="connsiteX25" fmla="*/ 1775454 w 12192000"/>
              <a:gd name="connsiteY25" fmla="*/ 815182 h 3378280"/>
              <a:gd name="connsiteX26" fmla="*/ 1781011 w 12192000"/>
              <a:gd name="connsiteY26" fmla="*/ 816068 h 3378280"/>
              <a:gd name="connsiteX27" fmla="*/ 1817738 w 12192000"/>
              <a:gd name="connsiteY27" fmla="*/ 834926 h 3378280"/>
              <a:gd name="connsiteX28" fmla="*/ 1830702 w 12192000"/>
              <a:gd name="connsiteY28" fmla="*/ 836485 h 3378280"/>
              <a:gd name="connsiteX29" fmla="*/ 1853950 w 12192000"/>
              <a:gd name="connsiteY29" fmla="*/ 841519 h 3378280"/>
              <a:gd name="connsiteX30" fmla="*/ 1915890 w 12192000"/>
              <a:gd name="connsiteY30" fmla="*/ 841983 h 3378280"/>
              <a:gd name="connsiteX31" fmla="*/ 1960900 w 12192000"/>
              <a:gd name="connsiteY31" fmla="*/ 865789 h 3378280"/>
              <a:gd name="connsiteX32" fmla="*/ 1961217 w 12192000"/>
              <a:gd name="connsiteY32" fmla="*/ 865662 h 3378280"/>
              <a:gd name="connsiteX33" fmla="*/ 1969825 w 12192000"/>
              <a:gd name="connsiteY33" fmla="*/ 869049 h 3378280"/>
              <a:gd name="connsiteX34" fmla="*/ 1975234 w 12192000"/>
              <a:gd name="connsiteY34" fmla="*/ 872329 h 3378280"/>
              <a:gd name="connsiteX35" fmla="*/ 1990485 w 12192000"/>
              <a:gd name="connsiteY35" fmla="*/ 879288 h 3378280"/>
              <a:gd name="connsiteX36" fmla="*/ 1996793 w 12192000"/>
              <a:gd name="connsiteY36" fmla="*/ 880361 h 3378280"/>
              <a:gd name="connsiteX37" fmla="*/ 2055091 w 12192000"/>
              <a:gd name="connsiteY37" fmla="*/ 872818 h 3378280"/>
              <a:gd name="connsiteX38" fmla="*/ 2165143 w 12192000"/>
              <a:gd name="connsiteY38" fmla="*/ 892293 h 3378280"/>
              <a:gd name="connsiteX39" fmla="*/ 2274196 w 12192000"/>
              <a:gd name="connsiteY39" fmla="*/ 914768 h 3378280"/>
              <a:gd name="connsiteX40" fmla="*/ 2383986 w 12192000"/>
              <a:gd name="connsiteY40" fmla="*/ 934891 h 3378280"/>
              <a:gd name="connsiteX41" fmla="*/ 2420278 w 12192000"/>
              <a:gd name="connsiteY41" fmla="*/ 933890 h 3378280"/>
              <a:gd name="connsiteX42" fmla="*/ 2426203 w 12192000"/>
              <a:gd name="connsiteY42" fmla="*/ 933891 h 3378280"/>
              <a:gd name="connsiteX43" fmla="*/ 2448674 w 12192000"/>
              <a:gd name="connsiteY43" fmla="*/ 941056 h 3378280"/>
              <a:gd name="connsiteX44" fmla="*/ 2457640 w 12192000"/>
              <a:gd name="connsiteY44" fmla="*/ 943105 h 3378280"/>
              <a:gd name="connsiteX45" fmla="*/ 2457852 w 12192000"/>
              <a:gd name="connsiteY45" fmla="*/ 942912 h 3378280"/>
              <a:gd name="connsiteX46" fmla="*/ 2466265 w 12192000"/>
              <a:gd name="connsiteY46" fmla="*/ 945310 h 3378280"/>
              <a:gd name="connsiteX47" fmla="*/ 2507496 w 12192000"/>
              <a:gd name="connsiteY47" fmla="*/ 960111 h 3378280"/>
              <a:gd name="connsiteX48" fmla="*/ 2561127 w 12192000"/>
              <a:gd name="connsiteY48" fmla="*/ 949411 h 3378280"/>
              <a:gd name="connsiteX49" fmla="*/ 2583467 w 12192000"/>
              <a:gd name="connsiteY49" fmla="*/ 950570 h 3378280"/>
              <a:gd name="connsiteX50" fmla="*/ 2595361 w 12192000"/>
              <a:gd name="connsiteY50" fmla="*/ 949884 h 3378280"/>
              <a:gd name="connsiteX51" fmla="*/ 2596075 w 12192000"/>
              <a:gd name="connsiteY51" fmla="*/ 949000 h 3378280"/>
              <a:gd name="connsiteX52" fmla="*/ 2666638 w 12192000"/>
              <a:gd name="connsiteY52" fmla="*/ 975095 h 3378280"/>
              <a:gd name="connsiteX53" fmla="*/ 2703393 w 12192000"/>
              <a:gd name="connsiteY53" fmla="*/ 989635 h 3378280"/>
              <a:gd name="connsiteX54" fmla="*/ 2705616 w 12192000"/>
              <a:gd name="connsiteY54" fmla="*/ 989244 h 3378280"/>
              <a:gd name="connsiteX55" fmla="*/ 2721898 w 12192000"/>
              <a:gd name="connsiteY55" fmla="*/ 997777 h 3378280"/>
              <a:gd name="connsiteX56" fmla="*/ 2735669 w 12192000"/>
              <a:gd name="connsiteY56" fmla="*/ 1009612 h 3378280"/>
              <a:gd name="connsiteX57" fmla="*/ 2857526 w 12192000"/>
              <a:gd name="connsiteY57" fmla="*/ 1030627 h 3378280"/>
              <a:gd name="connsiteX58" fmla="*/ 3021918 w 12192000"/>
              <a:gd name="connsiteY58" fmla="*/ 1088093 h 3378280"/>
              <a:gd name="connsiteX59" fmla="*/ 3155458 w 12192000"/>
              <a:gd name="connsiteY59" fmla="*/ 1121618 h 3378280"/>
              <a:gd name="connsiteX60" fmla="*/ 3328229 w 12192000"/>
              <a:gd name="connsiteY60" fmla="*/ 1155903 h 3378280"/>
              <a:gd name="connsiteX61" fmla="*/ 3448440 w 12192000"/>
              <a:gd name="connsiteY61" fmla="*/ 1184343 h 3378280"/>
              <a:gd name="connsiteX62" fmla="*/ 3499287 w 12192000"/>
              <a:gd name="connsiteY62" fmla="*/ 1209472 h 3378280"/>
              <a:gd name="connsiteX63" fmla="*/ 3520027 w 12192000"/>
              <a:gd name="connsiteY63" fmla="*/ 1207338 h 3378280"/>
              <a:gd name="connsiteX64" fmla="*/ 3523594 w 12192000"/>
              <a:gd name="connsiteY64" fmla="*/ 1206755 h 3378280"/>
              <a:gd name="connsiteX65" fmla="*/ 3538013 w 12192000"/>
              <a:gd name="connsiteY65" fmla="*/ 1209066 h 3378280"/>
              <a:gd name="connsiteX66" fmla="*/ 3541918 w 12192000"/>
              <a:gd name="connsiteY66" fmla="*/ 1203922 h 3378280"/>
              <a:gd name="connsiteX67" fmla="*/ 3590082 w 12192000"/>
              <a:gd name="connsiteY67" fmla="*/ 1209115 h 3378280"/>
              <a:gd name="connsiteX68" fmla="*/ 3716445 w 12192000"/>
              <a:gd name="connsiteY68" fmla="*/ 1243431 h 3378280"/>
              <a:gd name="connsiteX69" fmla="*/ 3792028 w 12192000"/>
              <a:gd name="connsiteY69" fmla="*/ 1260288 h 3378280"/>
              <a:gd name="connsiteX70" fmla="*/ 3820707 w 12192000"/>
              <a:gd name="connsiteY70" fmla="*/ 1260924 h 3378280"/>
              <a:gd name="connsiteX71" fmla="*/ 3860784 w 12192000"/>
              <a:gd name="connsiteY71" fmla="*/ 1265692 h 3378280"/>
              <a:gd name="connsiteX72" fmla="*/ 3997310 w 12192000"/>
              <a:gd name="connsiteY72" fmla="*/ 1281176 h 3378280"/>
              <a:gd name="connsiteX73" fmla="*/ 4040665 w 12192000"/>
              <a:gd name="connsiteY73" fmla="*/ 1291934 h 3378280"/>
              <a:gd name="connsiteX74" fmla="*/ 4046831 w 12192000"/>
              <a:gd name="connsiteY74" fmla="*/ 1293910 h 3378280"/>
              <a:gd name="connsiteX75" fmla="*/ 4095847 w 12192000"/>
              <a:gd name="connsiteY75" fmla="*/ 1316851 h 3378280"/>
              <a:gd name="connsiteX76" fmla="*/ 4101945 w 12192000"/>
              <a:gd name="connsiteY76" fmla="*/ 1313869 h 3378280"/>
              <a:gd name="connsiteX77" fmla="*/ 4119420 w 12192000"/>
              <a:gd name="connsiteY77" fmla="*/ 1313965 h 3378280"/>
              <a:gd name="connsiteX78" fmla="*/ 4131728 w 12192000"/>
              <a:gd name="connsiteY78" fmla="*/ 1322978 h 3378280"/>
              <a:gd name="connsiteX79" fmla="*/ 4193827 w 12192000"/>
              <a:gd name="connsiteY79" fmla="*/ 1350222 h 3378280"/>
              <a:gd name="connsiteX80" fmla="*/ 4286157 w 12192000"/>
              <a:gd name="connsiteY80" fmla="*/ 1385101 h 3378280"/>
              <a:gd name="connsiteX81" fmla="*/ 4298907 w 12192000"/>
              <a:gd name="connsiteY81" fmla="*/ 1394396 h 3378280"/>
              <a:gd name="connsiteX82" fmla="*/ 4323224 w 12192000"/>
              <a:gd name="connsiteY82" fmla="*/ 1403133 h 3378280"/>
              <a:gd name="connsiteX83" fmla="*/ 4404439 w 12192000"/>
              <a:gd name="connsiteY83" fmla="*/ 1417252 h 3378280"/>
              <a:gd name="connsiteX84" fmla="*/ 4423989 w 12192000"/>
              <a:gd name="connsiteY84" fmla="*/ 1410448 h 3378280"/>
              <a:gd name="connsiteX85" fmla="*/ 4427300 w 12192000"/>
              <a:gd name="connsiteY85" fmla="*/ 1409068 h 3378280"/>
              <a:gd name="connsiteX86" fmla="*/ 4441847 w 12192000"/>
              <a:gd name="connsiteY86" fmla="*/ 1408029 h 3378280"/>
              <a:gd name="connsiteX87" fmla="*/ 4444331 w 12192000"/>
              <a:gd name="connsiteY87" fmla="*/ 1402133 h 3378280"/>
              <a:gd name="connsiteX88" fmla="*/ 4492293 w 12192000"/>
              <a:gd name="connsiteY88" fmla="*/ 1396205 h 3378280"/>
              <a:gd name="connsiteX89" fmla="*/ 4623335 w 12192000"/>
              <a:gd name="connsiteY89" fmla="*/ 1400793 h 3378280"/>
              <a:gd name="connsiteX90" fmla="*/ 4700790 w 12192000"/>
              <a:gd name="connsiteY90" fmla="*/ 1399970 h 3378280"/>
              <a:gd name="connsiteX91" fmla="*/ 4728732 w 12192000"/>
              <a:gd name="connsiteY91" fmla="*/ 1394050 h 3378280"/>
              <a:gd name="connsiteX92" fmla="*/ 4768749 w 12192000"/>
              <a:gd name="connsiteY92" fmla="*/ 1389553 h 3378280"/>
              <a:gd name="connsiteX93" fmla="*/ 4838227 w 12192000"/>
              <a:gd name="connsiteY93" fmla="*/ 1377273 h 3378280"/>
              <a:gd name="connsiteX94" fmla="*/ 4904889 w 12192000"/>
              <a:gd name="connsiteY94" fmla="*/ 1373499 h 3378280"/>
              <a:gd name="connsiteX95" fmla="*/ 4949597 w 12192000"/>
              <a:gd name="connsiteY95" fmla="*/ 1374085 h 3378280"/>
              <a:gd name="connsiteX96" fmla="*/ 4956064 w 12192000"/>
              <a:gd name="connsiteY96" fmla="*/ 1374603 h 3378280"/>
              <a:gd name="connsiteX97" fmla="*/ 5009322 w 12192000"/>
              <a:gd name="connsiteY97" fmla="*/ 1385751 h 3378280"/>
              <a:gd name="connsiteX98" fmla="*/ 5014476 w 12192000"/>
              <a:gd name="connsiteY98" fmla="*/ 1381460 h 3378280"/>
              <a:gd name="connsiteX99" fmla="*/ 5031428 w 12192000"/>
              <a:gd name="connsiteY99" fmla="*/ 1377570 h 3378280"/>
              <a:gd name="connsiteX100" fmla="*/ 5045619 w 12192000"/>
              <a:gd name="connsiteY100" fmla="*/ 1383532 h 3378280"/>
              <a:gd name="connsiteX101" fmla="*/ 5112635 w 12192000"/>
              <a:gd name="connsiteY101" fmla="*/ 1395891 h 3378280"/>
              <a:gd name="connsiteX102" fmla="*/ 5210851 w 12192000"/>
              <a:gd name="connsiteY102" fmla="*/ 1408784 h 3378280"/>
              <a:gd name="connsiteX103" fmla="*/ 5225543 w 12192000"/>
              <a:gd name="connsiteY103" fmla="*/ 1414923 h 3378280"/>
              <a:gd name="connsiteX104" fmla="*/ 5321696 w 12192000"/>
              <a:gd name="connsiteY104" fmla="*/ 1432414 h 3378280"/>
              <a:gd name="connsiteX105" fmla="*/ 5372327 w 12192000"/>
              <a:gd name="connsiteY105" fmla="*/ 1436597 h 3378280"/>
              <a:gd name="connsiteX106" fmla="*/ 5378149 w 12192000"/>
              <a:gd name="connsiteY106" fmla="*/ 1431785 h 3378280"/>
              <a:gd name="connsiteX107" fmla="*/ 5393069 w 12192000"/>
              <a:gd name="connsiteY107" fmla="*/ 1433737 h 3378280"/>
              <a:gd name="connsiteX108" fmla="*/ 5527621 w 12192000"/>
              <a:gd name="connsiteY108" fmla="*/ 1458786 h 3378280"/>
              <a:gd name="connsiteX109" fmla="*/ 5680585 w 12192000"/>
              <a:gd name="connsiteY109" fmla="*/ 1498233 h 3378280"/>
              <a:gd name="connsiteX110" fmla="*/ 5783795 w 12192000"/>
              <a:gd name="connsiteY110" fmla="*/ 1499932 h 3378280"/>
              <a:gd name="connsiteX111" fmla="*/ 6016525 w 12192000"/>
              <a:gd name="connsiteY111" fmla="*/ 1577292 h 3378280"/>
              <a:gd name="connsiteX112" fmla="*/ 6186598 w 12192000"/>
              <a:gd name="connsiteY112" fmla="*/ 1606065 h 3378280"/>
              <a:gd name="connsiteX113" fmla="*/ 6197872 w 12192000"/>
              <a:gd name="connsiteY113" fmla="*/ 1616845 h 3378280"/>
              <a:gd name="connsiteX114" fmla="*/ 6212885 w 12192000"/>
              <a:gd name="connsiteY114" fmla="*/ 1624535 h 3378280"/>
              <a:gd name="connsiteX115" fmla="*/ 6319240 w 12192000"/>
              <a:gd name="connsiteY115" fmla="*/ 1660375 h 3378280"/>
              <a:gd name="connsiteX116" fmla="*/ 6333397 w 12192000"/>
              <a:gd name="connsiteY116" fmla="*/ 1658763 h 3378280"/>
              <a:gd name="connsiteX117" fmla="*/ 6357266 w 12192000"/>
              <a:gd name="connsiteY117" fmla="*/ 1659543 h 3378280"/>
              <a:gd name="connsiteX118" fmla="*/ 6418740 w 12192000"/>
              <a:gd name="connsiteY118" fmla="*/ 1648944 h 3378280"/>
              <a:gd name="connsiteX119" fmla="*/ 6458877 w 12192000"/>
              <a:gd name="connsiteY119" fmla="*/ 1662117 h 3378280"/>
              <a:gd name="connsiteX120" fmla="*/ 6467254 w 12192000"/>
              <a:gd name="connsiteY120" fmla="*/ 1664227 h 3378280"/>
              <a:gd name="connsiteX121" fmla="*/ 6467545 w 12192000"/>
              <a:gd name="connsiteY121" fmla="*/ 1664046 h 3378280"/>
              <a:gd name="connsiteX122" fmla="*/ 6476635 w 12192000"/>
              <a:gd name="connsiteY122" fmla="*/ 1665826 h 3378280"/>
              <a:gd name="connsiteX123" fmla="*/ 6482535 w 12192000"/>
              <a:gd name="connsiteY123" fmla="*/ 1668074 h 3378280"/>
              <a:gd name="connsiteX124" fmla="*/ 6498791 w 12192000"/>
              <a:gd name="connsiteY124" fmla="*/ 1672167 h 3378280"/>
              <a:gd name="connsiteX125" fmla="*/ 6505220 w 12192000"/>
              <a:gd name="connsiteY125" fmla="*/ 1672092 h 3378280"/>
              <a:gd name="connsiteX126" fmla="*/ 6508969 w 12192000"/>
              <a:gd name="connsiteY126" fmla="*/ 1669922 h 3378280"/>
              <a:gd name="connsiteX127" fmla="*/ 6544886 w 12192000"/>
              <a:gd name="connsiteY127" fmla="*/ 1670695 h 3378280"/>
              <a:gd name="connsiteX128" fmla="*/ 6617859 w 12192000"/>
              <a:gd name="connsiteY128" fmla="*/ 1679453 h 3378280"/>
              <a:gd name="connsiteX129" fmla="*/ 6657726 w 12192000"/>
              <a:gd name="connsiteY129" fmla="*/ 1687906 h 3378280"/>
              <a:gd name="connsiteX130" fmla="*/ 6769041 w 12192000"/>
              <a:gd name="connsiteY130" fmla="*/ 1707304 h 3378280"/>
              <a:gd name="connsiteX131" fmla="*/ 6882368 w 12192000"/>
              <a:gd name="connsiteY131" fmla="*/ 1723914 h 3378280"/>
              <a:gd name="connsiteX132" fmla="*/ 6968822 w 12192000"/>
              <a:gd name="connsiteY132" fmla="*/ 1723334 h 3378280"/>
              <a:gd name="connsiteX133" fmla="*/ 6973672 w 12192000"/>
              <a:gd name="connsiteY133" fmla="*/ 1726298 h 3378280"/>
              <a:gd name="connsiteX134" fmla="*/ 6981961 w 12192000"/>
              <a:gd name="connsiteY134" fmla="*/ 1729324 h 3378280"/>
              <a:gd name="connsiteX135" fmla="*/ 6982342 w 12192000"/>
              <a:gd name="connsiteY135" fmla="*/ 1729201 h 3378280"/>
              <a:gd name="connsiteX136" fmla="*/ 6989757 w 12192000"/>
              <a:gd name="connsiteY136" fmla="*/ 1732420 h 3378280"/>
              <a:gd name="connsiteX137" fmla="*/ 7023794 w 12192000"/>
              <a:gd name="connsiteY137" fmla="*/ 1750660 h 3378280"/>
              <a:gd name="connsiteX138" fmla="*/ 7090828 w 12192000"/>
              <a:gd name="connsiteY138" fmla="*/ 1750287 h 3378280"/>
              <a:gd name="connsiteX139" fmla="*/ 7114479 w 12192000"/>
              <a:gd name="connsiteY139" fmla="*/ 1754649 h 3378280"/>
              <a:gd name="connsiteX140" fmla="*/ 7162053 w 12192000"/>
              <a:gd name="connsiteY140" fmla="*/ 1772908 h 3378280"/>
              <a:gd name="connsiteX141" fmla="*/ 7167808 w 12192000"/>
              <a:gd name="connsiteY141" fmla="*/ 1773656 h 3378280"/>
              <a:gd name="connsiteX142" fmla="*/ 7187185 w 12192000"/>
              <a:gd name="connsiteY142" fmla="*/ 1787148 h 3378280"/>
              <a:gd name="connsiteX143" fmla="*/ 7216505 w 12192000"/>
              <a:gd name="connsiteY143" fmla="*/ 1804489 h 3378280"/>
              <a:gd name="connsiteX144" fmla="*/ 7219246 w 12192000"/>
              <a:gd name="connsiteY144" fmla="*/ 1804514 h 3378280"/>
              <a:gd name="connsiteX145" fmla="*/ 7230639 w 12192000"/>
              <a:gd name="connsiteY145" fmla="*/ 1813879 h 3378280"/>
              <a:gd name="connsiteX146" fmla="*/ 7236776 w 12192000"/>
              <a:gd name="connsiteY146" fmla="*/ 1825514 h 3378280"/>
              <a:gd name="connsiteX147" fmla="*/ 7394082 w 12192000"/>
              <a:gd name="connsiteY147" fmla="*/ 1877925 h 3378280"/>
              <a:gd name="connsiteX148" fmla="*/ 7505820 w 12192000"/>
              <a:gd name="connsiteY148" fmla="*/ 1933859 h 3378280"/>
              <a:gd name="connsiteX149" fmla="*/ 7572147 w 12192000"/>
              <a:gd name="connsiteY149" fmla="*/ 2003817 h 3378280"/>
              <a:gd name="connsiteX150" fmla="*/ 7828975 w 12192000"/>
              <a:gd name="connsiteY150" fmla="*/ 2061508 h 3378280"/>
              <a:gd name="connsiteX151" fmla="*/ 7886804 w 12192000"/>
              <a:gd name="connsiteY151" fmla="*/ 2075509 h 3378280"/>
              <a:gd name="connsiteX152" fmla="*/ 7923558 w 12192000"/>
              <a:gd name="connsiteY152" fmla="*/ 2103529 h 3378280"/>
              <a:gd name="connsiteX153" fmla="*/ 7947954 w 12192000"/>
              <a:gd name="connsiteY153" fmla="*/ 2104996 h 3378280"/>
              <a:gd name="connsiteX154" fmla="*/ 7952318 w 12192000"/>
              <a:gd name="connsiteY154" fmla="*/ 2105077 h 3378280"/>
              <a:gd name="connsiteX155" fmla="*/ 7966398 w 12192000"/>
              <a:gd name="connsiteY155" fmla="*/ 2109147 h 3378280"/>
              <a:gd name="connsiteX156" fmla="*/ 7974591 w 12192000"/>
              <a:gd name="connsiteY156" fmla="*/ 2105612 h 3378280"/>
              <a:gd name="connsiteX157" fmla="*/ 7998806 w 12192000"/>
              <a:gd name="connsiteY157" fmla="*/ 2108382 h 3378280"/>
              <a:gd name="connsiteX158" fmla="*/ 8023544 w 12192000"/>
              <a:gd name="connsiteY158" fmla="*/ 2117183 h 3378280"/>
              <a:gd name="connsiteX159" fmla="*/ 8136247 w 12192000"/>
              <a:gd name="connsiteY159" fmla="*/ 2164190 h 3378280"/>
              <a:gd name="connsiteX160" fmla="*/ 8206445 w 12192000"/>
              <a:gd name="connsiteY160" fmla="*/ 2189356 h 3378280"/>
              <a:gd name="connsiteX161" fmla="*/ 8237464 w 12192000"/>
              <a:gd name="connsiteY161" fmla="*/ 2194272 h 3378280"/>
              <a:gd name="connsiteX162" fmla="*/ 8277853 w 12192000"/>
              <a:gd name="connsiteY162" fmla="*/ 2204259 h 3378280"/>
              <a:gd name="connsiteX163" fmla="*/ 8352501 w 12192000"/>
              <a:gd name="connsiteY163" fmla="*/ 2218290 h 3378280"/>
              <a:gd name="connsiteX164" fmla="*/ 8446938 w 12192000"/>
              <a:gd name="connsiteY164" fmla="*/ 2243393 h 3378280"/>
              <a:gd name="connsiteX165" fmla="*/ 8497138 w 12192000"/>
              <a:gd name="connsiteY165" fmla="*/ 2281506 h 3378280"/>
              <a:gd name="connsiteX166" fmla="*/ 8506096 w 12192000"/>
              <a:gd name="connsiteY166" fmla="*/ 2280042 h 3378280"/>
              <a:gd name="connsiteX167" fmla="*/ 8549806 w 12192000"/>
              <a:gd name="connsiteY167" fmla="*/ 2296675 h 3378280"/>
              <a:gd name="connsiteX168" fmla="*/ 8680256 w 12192000"/>
              <a:gd name="connsiteY168" fmla="*/ 2378758 h 3378280"/>
              <a:gd name="connsiteX169" fmla="*/ 8766301 w 12192000"/>
              <a:gd name="connsiteY169" fmla="*/ 2410605 h 3378280"/>
              <a:gd name="connsiteX170" fmla="*/ 8800492 w 12192000"/>
              <a:gd name="connsiteY170" fmla="*/ 2418067 h 3378280"/>
              <a:gd name="connsiteX171" fmla="*/ 8857555 w 12192000"/>
              <a:gd name="connsiteY171" fmla="*/ 2430810 h 3378280"/>
              <a:gd name="connsiteX172" fmla="*/ 8951967 w 12192000"/>
              <a:gd name="connsiteY172" fmla="*/ 2460856 h 3378280"/>
              <a:gd name="connsiteX173" fmla="*/ 9002970 w 12192000"/>
              <a:gd name="connsiteY173" fmla="*/ 2472291 h 3378280"/>
              <a:gd name="connsiteX174" fmla="*/ 9081613 w 12192000"/>
              <a:gd name="connsiteY174" fmla="*/ 2488296 h 3378280"/>
              <a:gd name="connsiteX175" fmla="*/ 9091561 w 12192000"/>
              <a:gd name="connsiteY175" fmla="*/ 2494386 h 3378280"/>
              <a:gd name="connsiteX176" fmla="*/ 9140625 w 12192000"/>
              <a:gd name="connsiteY176" fmla="*/ 2486779 h 3378280"/>
              <a:gd name="connsiteX177" fmla="*/ 9271105 w 12192000"/>
              <a:gd name="connsiteY177" fmla="*/ 2511730 h 3378280"/>
              <a:gd name="connsiteX178" fmla="*/ 9295023 w 12192000"/>
              <a:gd name="connsiteY178" fmla="*/ 2512830 h 3378280"/>
              <a:gd name="connsiteX179" fmla="*/ 9321673 w 12192000"/>
              <a:gd name="connsiteY179" fmla="*/ 2524119 h 3378280"/>
              <a:gd name="connsiteX180" fmla="*/ 9378975 w 12192000"/>
              <a:gd name="connsiteY180" fmla="*/ 2543803 h 3378280"/>
              <a:gd name="connsiteX181" fmla="*/ 9414193 w 12192000"/>
              <a:gd name="connsiteY181" fmla="*/ 2562927 h 3378280"/>
              <a:gd name="connsiteX182" fmla="*/ 9426009 w 12192000"/>
              <a:gd name="connsiteY182" fmla="*/ 2558847 h 3378280"/>
              <a:gd name="connsiteX183" fmla="*/ 9450634 w 12192000"/>
              <a:gd name="connsiteY183" fmla="*/ 2560685 h 3378280"/>
              <a:gd name="connsiteX184" fmla="*/ 9549097 w 12192000"/>
              <a:gd name="connsiteY184" fmla="*/ 2585168 h 3378280"/>
              <a:gd name="connsiteX185" fmla="*/ 9567633 w 12192000"/>
              <a:gd name="connsiteY185" fmla="*/ 2587105 h 3378280"/>
              <a:gd name="connsiteX186" fmla="*/ 9586878 w 12192000"/>
              <a:gd name="connsiteY186" fmla="*/ 2596659 h 3378280"/>
              <a:gd name="connsiteX187" fmla="*/ 9589974 w 12192000"/>
              <a:gd name="connsiteY187" fmla="*/ 2598235 h 3378280"/>
              <a:gd name="connsiteX188" fmla="*/ 9590570 w 12192000"/>
              <a:gd name="connsiteY188" fmla="*/ 2598249 h 3378280"/>
              <a:gd name="connsiteX189" fmla="*/ 9591896 w 12192000"/>
              <a:gd name="connsiteY189" fmla="*/ 2599214 h 3378280"/>
              <a:gd name="connsiteX190" fmla="*/ 9604535 w 12192000"/>
              <a:gd name="connsiteY190" fmla="*/ 2605654 h 3378280"/>
              <a:gd name="connsiteX191" fmla="*/ 9610554 w 12192000"/>
              <a:gd name="connsiteY191" fmla="*/ 2606189 h 3378280"/>
              <a:gd name="connsiteX192" fmla="*/ 9690072 w 12192000"/>
              <a:gd name="connsiteY192" fmla="*/ 2638745 h 3378280"/>
              <a:gd name="connsiteX193" fmla="*/ 9726964 w 12192000"/>
              <a:gd name="connsiteY193" fmla="*/ 2653728 h 3378280"/>
              <a:gd name="connsiteX194" fmla="*/ 9738036 w 12192000"/>
              <a:gd name="connsiteY194" fmla="*/ 2654794 h 3378280"/>
              <a:gd name="connsiteX195" fmla="*/ 9774202 w 12192000"/>
              <a:gd name="connsiteY195" fmla="*/ 2671509 h 3378280"/>
              <a:gd name="connsiteX196" fmla="*/ 9793246 w 12192000"/>
              <a:gd name="connsiteY196" fmla="*/ 2675245 h 3378280"/>
              <a:gd name="connsiteX197" fmla="*/ 9890301 w 12192000"/>
              <a:gd name="connsiteY197" fmla="*/ 2700274 h 3378280"/>
              <a:gd name="connsiteX198" fmla="*/ 9915070 w 12192000"/>
              <a:gd name="connsiteY198" fmla="*/ 2699250 h 3378280"/>
              <a:gd name="connsiteX199" fmla="*/ 9976517 w 12192000"/>
              <a:gd name="connsiteY199" fmla="*/ 2732899 h 3378280"/>
              <a:gd name="connsiteX200" fmla="*/ 9990168 w 12192000"/>
              <a:gd name="connsiteY200" fmla="*/ 2737877 h 3378280"/>
              <a:gd name="connsiteX201" fmla="*/ 9995041 w 12192000"/>
              <a:gd name="connsiteY201" fmla="*/ 2741223 h 3378280"/>
              <a:gd name="connsiteX202" fmla="*/ 10012636 w 12192000"/>
              <a:gd name="connsiteY202" fmla="*/ 2729876 h 3378280"/>
              <a:gd name="connsiteX203" fmla="*/ 10044280 w 12192000"/>
              <a:gd name="connsiteY203" fmla="*/ 2726966 h 3378280"/>
              <a:gd name="connsiteX204" fmla="*/ 10057934 w 12192000"/>
              <a:gd name="connsiteY204" fmla="*/ 2735671 h 3378280"/>
              <a:gd name="connsiteX205" fmla="*/ 10148373 w 12192000"/>
              <a:gd name="connsiteY205" fmla="*/ 2778987 h 3378280"/>
              <a:gd name="connsiteX206" fmla="*/ 10176601 w 12192000"/>
              <a:gd name="connsiteY206" fmla="*/ 2791940 h 3378280"/>
              <a:gd name="connsiteX207" fmla="*/ 10235082 w 12192000"/>
              <a:gd name="connsiteY207" fmla="*/ 2816761 h 3378280"/>
              <a:gd name="connsiteX208" fmla="*/ 10421684 w 12192000"/>
              <a:gd name="connsiteY208" fmla="*/ 2833871 h 3378280"/>
              <a:gd name="connsiteX209" fmla="*/ 10507376 w 12192000"/>
              <a:gd name="connsiteY209" fmla="*/ 2822262 h 3378280"/>
              <a:gd name="connsiteX210" fmla="*/ 10738376 w 12192000"/>
              <a:gd name="connsiteY210" fmla="*/ 2833353 h 3378280"/>
              <a:gd name="connsiteX211" fmla="*/ 11043443 w 12192000"/>
              <a:gd name="connsiteY211" fmla="*/ 2803954 h 3378280"/>
              <a:gd name="connsiteX212" fmla="*/ 11115269 w 12192000"/>
              <a:gd name="connsiteY212" fmla="*/ 2823367 h 3378280"/>
              <a:gd name="connsiteX213" fmla="*/ 11147582 w 12192000"/>
              <a:gd name="connsiteY213" fmla="*/ 2822547 h 3378280"/>
              <a:gd name="connsiteX214" fmla="*/ 11201205 w 12192000"/>
              <a:gd name="connsiteY214" fmla="*/ 2818210 h 3378280"/>
              <a:gd name="connsiteX215" fmla="*/ 11391726 w 12192000"/>
              <a:gd name="connsiteY215" fmla="*/ 2826386 h 3378280"/>
              <a:gd name="connsiteX216" fmla="*/ 11507640 w 12192000"/>
              <a:gd name="connsiteY216" fmla="*/ 2824866 h 3378280"/>
              <a:gd name="connsiteX217" fmla="*/ 11718056 w 12192000"/>
              <a:gd name="connsiteY217" fmla="*/ 2821969 h 3378280"/>
              <a:gd name="connsiteX218" fmla="*/ 11937926 w 12192000"/>
              <a:gd name="connsiteY218" fmla="*/ 2817058 h 3378280"/>
              <a:gd name="connsiteX219" fmla="*/ 12035355 w 12192000"/>
              <a:gd name="connsiteY219" fmla="*/ 2813340 h 3378280"/>
              <a:gd name="connsiteX220" fmla="*/ 12179047 w 12192000"/>
              <a:gd name="connsiteY220" fmla="*/ 2788508 h 3378280"/>
              <a:gd name="connsiteX221" fmla="*/ 12192000 w 12192000"/>
              <a:gd name="connsiteY221" fmla="*/ 2788486 h 3378280"/>
              <a:gd name="connsiteX222" fmla="*/ 12192000 w 12192000"/>
              <a:gd name="connsiteY222" fmla="*/ 3378280 h 3378280"/>
              <a:gd name="connsiteX223" fmla="*/ 0 w 12192000"/>
              <a:gd name="connsiteY223" fmla="*/ 3378280 h 33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2192000" h="3378280">
                <a:moveTo>
                  <a:pt x="0" y="0"/>
                </a:moveTo>
                <a:lnTo>
                  <a:pt x="13973" y="3431"/>
                </a:lnTo>
                <a:cubicBezTo>
                  <a:pt x="48258" y="17773"/>
                  <a:pt x="68757" y="59402"/>
                  <a:pt x="86774" y="43536"/>
                </a:cubicBezTo>
                <a:cubicBezTo>
                  <a:pt x="86532" y="72023"/>
                  <a:pt x="217976" y="120568"/>
                  <a:pt x="229780" y="145557"/>
                </a:cubicBezTo>
                <a:lnTo>
                  <a:pt x="302639" y="203425"/>
                </a:lnTo>
                <a:cubicBezTo>
                  <a:pt x="312906" y="207200"/>
                  <a:pt x="342855" y="184923"/>
                  <a:pt x="348081" y="187174"/>
                </a:cubicBezTo>
                <a:lnTo>
                  <a:pt x="436950" y="184066"/>
                </a:lnTo>
                <a:lnTo>
                  <a:pt x="501693" y="233225"/>
                </a:lnTo>
                <a:lnTo>
                  <a:pt x="557201" y="312390"/>
                </a:lnTo>
                <a:cubicBezTo>
                  <a:pt x="579844" y="353675"/>
                  <a:pt x="602207" y="315301"/>
                  <a:pt x="617648" y="333897"/>
                </a:cubicBezTo>
                <a:lnTo>
                  <a:pt x="692332" y="386327"/>
                </a:lnTo>
                <a:cubicBezTo>
                  <a:pt x="715261" y="398377"/>
                  <a:pt x="770477" y="414831"/>
                  <a:pt x="802009" y="419027"/>
                </a:cubicBezTo>
                <a:cubicBezTo>
                  <a:pt x="838953" y="433876"/>
                  <a:pt x="886385" y="473956"/>
                  <a:pt x="914003" y="475419"/>
                </a:cubicBezTo>
                <a:cubicBezTo>
                  <a:pt x="923483" y="477324"/>
                  <a:pt x="931440" y="475817"/>
                  <a:pt x="938561" y="472887"/>
                </a:cubicBezTo>
                <a:lnTo>
                  <a:pt x="1035683" y="486697"/>
                </a:lnTo>
                <a:cubicBezTo>
                  <a:pt x="1035708" y="486708"/>
                  <a:pt x="1035733" y="486720"/>
                  <a:pt x="1035757" y="486731"/>
                </a:cubicBezTo>
                <a:cubicBezTo>
                  <a:pt x="1046500" y="494574"/>
                  <a:pt x="1038533" y="500311"/>
                  <a:pt x="1074336" y="494465"/>
                </a:cubicBezTo>
                <a:cubicBezTo>
                  <a:pt x="1137289" y="530436"/>
                  <a:pt x="1235340" y="545106"/>
                  <a:pt x="1285084" y="589112"/>
                </a:cubicBezTo>
                <a:cubicBezTo>
                  <a:pt x="1341251" y="608873"/>
                  <a:pt x="1367674" y="637988"/>
                  <a:pt x="1409116" y="656332"/>
                </a:cubicBezTo>
                <a:cubicBezTo>
                  <a:pt x="1471208" y="682449"/>
                  <a:pt x="1492207" y="692779"/>
                  <a:pt x="1533725" y="699179"/>
                </a:cubicBezTo>
                <a:cubicBezTo>
                  <a:pt x="1592391" y="718911"/>
                  <a:pt x="1575207" y="737633"/>
                  <a:pt x="1636242" y="741533"/>
                </a:cubicBezTo>
                <a:cubicBezTo>
                  <a:pt x="1638264" y="746130"/>
                  <a:pt x="1700806" y="766849"/>
                  <a:pt x="1704848" y="770749"/>
                </a:cubicBezTo>
                <a:lnTo>
                  <a:pt x="1718292" y="781051"/>
                </a:lnTo>
                <a:lnTo>
                  <a:pt x="1720835" y="781117"/>
                </a:lnTo>
                <a:lnTo>
                  <a:pt x="1753341" y="800301"/>
                </a:lnTo>
                <a:lnTo>
                  <a:pt x="1775454" y="815182"/>
                </a:lnTo>
                <a:lnTo>
                  <a:pt x="1781011" y="816068"/>
                </a:lnTo>
                <a:lnTo>
                  <a:pt x="1817738" y="834926"/>
                </a:lnTo>
                <a:cubicBezTo>
                  <a:pt x="1821156" y="833953"/>
                  <a:pt x="1825209" y="834074"/>
                  <a:pt x="1830702" y="836485"/>
                </a:cubicBezTo>
                <a:cubicBezTo>
                  <a:pt x="1832151" y="819591"/>
                  <a:pt x="1837883" y="832919"/>
                  <a:pt x="1853950" y="841519"/>
                </a:cubicBezTo>
                <a:cubicBezTo>
                  <a:pt x="1859780" y="817198"/>
                  <a:pt x="1899456" y="849599"/>
                  <a:pt x="1915890" y="841983"/>
                </a:cubicBezTo>
                <a:lnTo>
                  <a:pt x="1960900" y="865789"/>
                </a:lnTo>
                <a:lnTo>
                  <a:pt x="1961217" y="865662"/>
                </a:lnTo>
                <a:cubicBezTo>
                  <a:pt x="1963265" y="866017"/>
                  <a:pt x="1965977" y="867037"/>
                  <a:pt x="1969825" y="869049"/>
                </a:cubicBezTo>
                <a:lnTo>
                  <a:pt x="1975234" y="872329"/>
                </a:lnTo>
                <a:lnTo>
                  <a:pt x="1990485" y="879288"/>
                </a:lnTo>
                <a:lnTo>
                  <a:pt x="1996793" y="880361"/>
                </a:lnTo>
                <a:cubicBezTo>
                  <a:pt x="2020465" y="879540"/>
                  <a:pt x="2023446" y="845377"/>
                  <a:pt x="2055091" y="872818"/>
                </a:cubicBezTo>
                <a:cubicBezTo>
                  <a:pt x="2098055" y="882341"/>
                  <a:pt x="2125216" y="870433"/>
                  <a:pt x="2165143" y="892293"/>
                </a:cubicBezTo>
                <a:cubicBezTo>
                  <a:pt x="2205365" y="901134"/>
                  <a:pt x="2239987" y="901455"/>
                  <a:pt x="2274196" y="914768"/>
                </a:cubicBezTo>
                <a:cubicBezTo>
                  <a:pt x="2310666" y="921868"/>
                  <a:pt x="2360104" y="931320"/>
                  <a:pt x="2383986" y="934891"/>
                </a:cubicBezTo>
                <a:lnTo>
                  <a:pt x="2420278" y="933890"/>
                </a:lnTo>
                <a:lnTo>
                  <a:pt x="2426203" y="933891"/>
                </a:lnTo>
                <a:lnTo>
                  <a:pt x="2448674" y="941056"/>
                </a:lnTo>
                <a:cubicBezTo>
                  <a:pt x="2452907" y="942503"/>
                  <a:pt x="2455711" y="943098"/>
                  <a:pt x="2457640" y="943105"/>
                </a:cubicBezTo>
                <a:lnTo>
                  <a:pt x="2457852" y="942912"/>
                </a:lnTo>
                <a:lnTo>
                  <a:pt x="2466265" y="945310"/>
                </a:lnTo>
                <a:cubicBezTo>
                  <a:pt x="2480470" y="949908"/>
                  <a:pt x="2494307" y="954915"/>
                  <a:pt x="2507496" y="960111"/>
                </a:cubicBezTo>
                <a:cubicBezTo>
                  <a:pt x="2518208" y="949036"/>
                  <a:pt x="2567155" y="976345"/>
                  <a:pt x="2561127" y="949411"/>
                </a:cubicBezTo>
                <a:cubicBezTo>
                  <a:pt x="2578896" y="955660"/>
                  <a:pt x="2589900" y="968806"/>
                  <a:pt x="2583467" y="950570"/>
                </a:cubicBezTo>
                <a:cubicBezTo>
                  <a:pt x="2589300" y="952141"/>
                  <a:pt x="2592850" y="951536"/>
                  <a:pt x="2595361" y="949884"/>
                </a:cubicBezTo>
                <a:lnTo>
                  <a:pt x="2596075" y="949000"/>
                </a:lnTo>
                <a:lnTo>
                  <a:pt x="2666638" y="975095"/>
                </a:lnTo>
                <a:lnTo>
                  <a:pt x="2703393" y="989635"/>
                </a:lnTo>
                <a:lnTo>
                  <a:pt x="2705616" y="989244"/>
                </a:lnTo>
                <a:lnTo>
                  <a:pt x="2721898" y="997777"/>
                </a:lnTo>
                <a:cubicBezTo>
                  <a:pt x="2727157" y="1001198"/>
                  <a:pt x="2731840" y="1005088"/>
                  <a:pt x="2735669" y="1009612"/>
                </a:cubicBezTo>
                <a:cubicBezTo>
                  <a:pt x="2790086" y="1002732"/>
                  <a:pt x="2797958" y="1020231"/>
                  <a:pt x="2857526" y="1030627"/>
                </a:cubicBezTo>
                <a:cubicBezTo>
                  <a:pt x="2897602" y="1063034"/>
                  <a:pt x="2965720" y="1083366"/>
                  <a:pt x="3021918" y="1088093"/>
                </a:cubicBezTo>
                <a:cubicBezTo>
                  <a:pt x="3054425" y="1110664"/>
                  <a:pt x="3109014" y="1101433"/>
                  <a:pt x="3155458" y="1121618"/>
                </a:cubicBezTo>
                <a:cubicBezTo>
                  <a:pt x="3217017" y="1136576"/>
                  <a:pt x="3270135" y="1143600"/>
                  <a:pt x="3328229" y="1155903"/>
                </a:cubicBezTo>
                <a:cubicBezTo>
                  <a:pt x="3365862" y="1138978"/>
                  <a:pt x="3408797" y="1179981"/>
                  <a:pt x="3448440" y="1184343"/>
                </a:cubicBezTo>
                <a:cubicBezTo>
                  <a:pt x="3438226" y="1205566"/>
                  <a:pt x="3496361" y="1182183"/>
                  <a:pt x="3499287" y="1209472"/>
                </a:cubicBezTo>
                <a:cubicBezTo>
                  <a:pt x="3506411" y="1209402"/>
                  <a:pt x="3513215" y="1208473"/>
                  <a:pt x="3520027" y="1207338"/>
                </a:cubicBezTo>
                <a:lnTo>
                  <a:pt x="3523594" y="1206755"/>
                </a:lnTo>
                <a:lnTo>
                  <a:pt x="3538013" y="1209066"/>
                </a:lnTo>
                <a:lnTo>
                  <a:pt x="3541918" y="1203922"/>
                </a:lnTo>
                <a:cubicBezTo>
                  <a:pt x="3550592" y="1203930"/>
                  <a:pt x="3560995" y="1202529"/>
                  <a:pt x="3590082" y="1209115"/>
                </a:cubicBezTo>
                <a:cubicBezTo>
                  <a:pt x="3622244" y="1230604"/>
                  <a:pt x="3676827" y="1215544"/>
                  <a:pt x="3716445" y="1243431"/>
                </a:cubicBezTo>
                <a:cubicBezTo>
                  <a:pt x="3731486" y="1251699"/>
                  <a:pt x="3780926" y="1265146"/>
                  <a:pt x="3792028" y="1260288"/>
                </a:cubicBezTo>
                <a:cubicBezTo>
                  <a:pt x="3802696" y="1261567"/>
                  <a:pt x="3814066" y="1267606"/>
                  <a:pt x="3820707" y="1260924"/>
                </a:cubicBezTo>
                <a:cubicBezTo>
                  <a:pt x="3830836" y="1253486"/>
                  <a:pt x="3863215" y="1278527"/>
                  <a:pt x="3860784" y="1265692"/>
                </a:cubicBezTo>
                <a:lnTo>
                  <a:pt x="3997310" y="1281176"/>
                </a:lnTo>
                <a:lnTo>
                  <a:pt x="4040665" y="1291934"/>
                </a:lnTo>
                <a:lnTo>
                  <a:pt x="4046831" y="1293910"/>
                </a:lnTo>
                <a:lnTo>
                  <a:pt x="4095847" y="1316851"/>
                </a:lnTo>
                <a:cubicBezTo>
                  <a:pt x="4097518" y="1315619"/>
                  <a:pt x="4099569" y="1314612"/>
                  <a:pt x="4101945" y="1313869"/>
                </a:cubicBezTo>
                <a:lnTo>
                  <a:pt x="4119420" y="1313965"/>
                </a:lnTo>
                <a:lnTo>
                  <a:pt x="4131728" y="1322978"/>
                </a:lnTo>
                <a:lnTo>
                  <a:pt x="4193827" y="1350222"/>
                </a:lnTo>
                <a:lnTo>
                  <a:pt x="4286157" y="1385101"/>
                </a:lnTo>
                <a:lnTo>
                  <a:pt x="4298907" y="1394396"/>
                </a:lnTo>
                <a:lnTo>
                  <a:pt x="4323224" y="1403133"/>
                </a:lnTo>
                <a:lnTo>
                  <a:pt x="4404439" y="1417252"/>
                </a:lnTo>
                <a:cubicBezTo>
                  <a:pt x="4411321" y="1415560"/>
                  <a:pt x="4417679" y="1413105"/>
                  <a:pt x="4423989" y="1410448"/>
                </a:cubicBezTo>
                <a:lnTo>
                  <a:pt x="4427300" y="1409068"/>
                </a:lnTo>
                <a:lnTo>
                  <a:pt x="4441847" y="1408029"/>
                </a:lnTo>
                <a:lnTo>
                  <a:pt x="4444331" y="1402133"/>
                </a:lnTo>
                <a:cubicBezTo>
                  <a:pt x="4452739" y="1400163"/>
                  <a:pt x="4462460" y="1396428"/>
                  <a:pt x="4492293" y="1396205"/>
                </a:cubicBezTo>
                <a:cubicBezTo>
                  <a:pt x="4528861" y="1409788"/>
                  <a:pt x="4577933" y="1382688"/>
                  <a:pt x="4623335" y="1400793"/>
                </a:cubicBezTo>
                <a:cubicBezTo>
                  <a:pt x="4639986" y="1405413"/>
                  <a:pt x="4691262" y="1407228"/>
                  <a:pt x="4700790" y="1399970"/>
                </a:cubicBezTo>
                <a:cubicBezTo>
                  <a:pt x="4711447" y="1398782"/>
                  <a:pt x="4723982" y="1402066"/>
                  <a:pt x="4728732" y="1394050"/>
                </a:cubicBezTo>
                <a:cubicBezTo>
                  <a:pt x="4736666" y="1384502"/>
                  <a:pt x="4774338" y="1401491"/>
                  <a:pt x="4768749" y="1389553"/>
                </a:cubicBezTo>
                <a:cubicBezTo>
                  <a:pt x="4795495" y="1401233"/>
                  <a:pt x="4816075" y="1381410"/>
                  <a:pt x="4838227" y="1377273"/>
                </a:cubicBezTo>
                <a:lnTo>
                  <a:pt x="4904889" y="1373499"/>
                </a:lnTo>
                <a:lnTo>
                  <a:pt x="4949597" y="1374085"/>
                </a:lnTo>
                <a:lnTo>
                  <a:pt x="4956064" y="1374603"/>
                </a:lnTo>
                <a:lnTo>
                  <a:pt x="5009322" y="1385751"/>
                </a:lnTo>
                <a:cubicBezTo>
                  <a:pt x="5010629" y="1384171"/>
                  <a:pt x="5012363" y="1382724"/>
                  <a:pt x="5014476" y="1381460"/>
                </a:cubicBezTo>
                <a:lnTo>
                  <a:pt x="5031428" y="1377570"/>
                </a:lnTo>
                <a:lnTo>
                  <a:pt x="5045619" y="1383532"/>
                </a:lnTo>
                <a:lnTo>
                  <a:pt x="5112635" y="1395891"/>
                </a:lnTo>
                <a:lnTo>
                  <a:pt x="5210851" y="1408784"/>
                </a:lnTo>
                <a:lnTo>
                  <a:pt x="5225543" y="1414923"/>
                </a:lnTo>
                <a:cubicBezTo>
                  <a:pt x="5259311" y="1422389"/>
                  <a:pt x="5300520" y="1417803"/>
                  <a:pt x="5321696" y="1432414"/>
                </a:cubicBezTo>
                <a:lnTo>
                  <a:pt x="5372327" y="1436597"/>
                </a:lnTo>
                <a:lnTo>
                  <a:pt x="5378149" y="1431785"/>
                </a:lnTo>
                <a:lnTo>
                  <a:pt x="5393069" y="1433737"/>
                </a:lnTo>
                <a:lnTo>
                  <a:pt x="5527621" y="1458786"/>
                </a:lnTo>
                <a:cubicBezTo>
                  <a:pt x="5595913" y="1482782"/>
                  <a:pt x="5624062" y="1464011"/>
                  <a:pt x="5680585" y="1498233"/>
                </a:cubicBezTo>
                <a:cubicBezTo>
                  <a:pt x="5671953" y="1485766"/>
                  <a:pt x="5763880" y="1493019"/>
                  <a:pt x="5783795" y="1499932"/>
                </a:cubicBezTo>
                <a:cubicBezTo>
                  <a:pt x="5806935" y="1511749"/>
                  <a:pt x="5950173" y="1559636"/>
                  <a:pt x="6016525" y="1577292"/>
                </a:cubicBezTo>
                <a:cubicBezTo>
                  <a:pt x="6077908" y="1586145"/>
                  <a:pt x="6125458" y="1613138"/>
                  <a:pt x="6186598" y="1606065"/>
                </a:cubicBezTo>
                <a:cubicBezTo>
                  <a:pt x="6189351" y="1610205"/>
                  <a:pt x="6193226" y="1613745"/>
                  <a:pt x="6197872" y="1616845"/>
                </a:cubicBezTo>
                <a:lnTo>
                  <a:pt x="6212885" y="1624535"/>
                </a:lnTo>
                <a:lnTo>
                  <a:pt x="6319240" y="1660375"/>
                </a:lnTo>
                <a:lnTo>
                  <a:pt x="6333397" y="1658763"/>
                </a:lnTo>
                <a:cubicBezTo>
                  <a:pt x="6332062" y="1641958"/>
                  <a:pt x="6339931" y="1653989"/>
                  <a:pt x="6357266" y="1659543"/>
                </a:cubicBezTo>
                <a:cubicBezTo>
                  <a:pt x="6359058" y="1634684"/>
                  <a:pt x="6403697" y="1659337"/>
                  <a:pt x="6418740" y="1648944"/>
                </a:cubicBezTo>
                <a:cubicBezTo>
                  <a:pt x="6431434" y="1653585"/>
                  <a:pt x="6444892" y="1658041"/>
                  <a:pt x="6458877" y="1662117"/>
                </a:cubicBezTo>
                <a:lnTo>
                  <a:pt x="6467254" y="1664227"/>
                </a:lnTo>
                <a:lnTo>
                  <a:pt x="6467545" y="1664046"/>
                </a:lnTo>
                <a:cubicBezTo>
                  <a:pt x="6469635" y="1664026"/>
                  <a:pt x="6472488" y="1664540"/>
                  <a:pt x="6476635" y="1665826"/>
                </a:cubicBezTo>
                <a:lnTo>
                  <a:pt x="6482535" y="1668074"/>
                </a:lnTo>
                <a:lnTo>
                  <a:pt x="6498791" y="1672167"/>
                </a:lnTo>
                <a:lnTo>
                  <a:pt x="6505220" y="1672092"/>
                </a:lnTo>
                <a:lnTo>
                  <a:pt x="6508969" y="1669922"/>
                </a:lnTo>
                <a:lnTo>
                  <a:pt x="6544886" y="1670695"/>
                </a:lnTo>
                <a:cubicBezTo>
                  <a:pt x="6566195" y="1684748"/>
                  <a:pt x="6578985" y="1674687"/>
                  <a:pt x="6617859" y="1679453"/>
                </a:cubicBezTo>
                <a:cubicBezTo>
                  <a:pt x="6628154" y="1690316"/>
                  <a:pt x="6642041" y="1690691"/>
                  <a:pt x="6657726" y="1687906"/>
                </a:cubicBezTo>
                <a:cubicBezTo>
                  <a:pt x="6690709" y="1699790"/>
                  <a:pt x="6728158" y="1699639"/>
                  <a:pt x="6769041" y="1707304"/>
                </a:cubicBezTo>
                <a:cubicBezTo>
                  <a:pt x="6805580" y="1727028"/>
                  <a:pt x="6838723" y="1715650"/>
                  <a:pt x="6882368" y="1723914"/>
                </a:cubicBezTo>
                <a:lnTo>
                  <a:pt x="6968822" y="1723334"/>
                </a:lnTo>
                <a:lnTo>
                  <a:pt x="6973672" y="1726298"/>
                </a:lnTo>
                <a:cubicBezTo>
                  <a:pt x="6977223" y="1728111"/>
                  <a:pt x="6979851" y="1729020"/>
                  <a:pt x="6981961" y="1729324"/>
                </a:cubicBezTo>
                <a:lnTo>
                  <a:pt x="6982342" y="1729201"/>
                </a:lnTo>
                <a:lnTo>
                  <a:pt x="6989757" y="1732420"/>
                </a:lnTo>
                <a:cubicBezTo>
                  <a:pt x="7001869" y="1738303"/>
                  <a:pt x="7013262" y="1744453"/>
                  <a:pt x="7023794" y="1750660"/>
                </a:cubicBezTo>
                <a:cubicBezTo>
                  <a:pt x="7043973" y="1743394"/>
                  <a:pt x="7076983" y="1772878"/>
                  <a:pt x="7090828" y="1750287"/>
                </a:cubicBezTo>
                <a:cubicBezTo>
                  <a:pt x="7105590" y="1758041"/>
                  <a:pt x="7107688" y="1770308"/>
                  <a:pt x="7114479" y="1754649"/>
                </a:cubicBezTo>
                <a:cubicBezTo>
                  <a:pt x="7126350" y="1758420"/>
                  <a:pt x="7153167" y="1769741"/>
                  <a:pt x="7162053" y="1772908"/>
                </a:cubicBezTo>
                <a:lnTo>
                  <a:pt x="7167808" y="1773656"/>
                </a:lnTo>
                <a:lnTo>
                  <a:pt x="7187185" y="1787148"/>
                </a:lnTo>
                <a:lnTo>
                  <a:pt x="7216505" y="1804489"/>
                </a:lnTo>
                <a:lnTo>
                  <a:pt x="7219246" y="1804514"/>
                </a:lnTo>
                <a:lnTo>
                  <a:pt x="7230639" y="1813879"/>
                </a:lnTo>
                <a:cubicBezTo>
                  <a:pt x="7233815" y="1817438"/>
                  <a:pt x="7236006" y="1821285"/>
                  <a:pt x="7236776" y="1825514"/>
                </a:cubicBezTo>
                <a:cubicBezTo>
                  <a:pt x="7301762" y="1828337"/>
                  <a:pt x="7336564" y="1860417"/>
                  <a:pt x="7394082" y="1877925"/>
                </a:cubicBezTo>
                <a:cubicBezTo>
                  <a:pt x="7452342" y="1904287"/>
                  <a:pt x="7466551" y="1917411"/>
                  <a:pt x="7505820" y="1933859"/>
                </a:cubicBezTo>
                <a:cubicBezTo>
                  <a:pt x="7522528" y="1943253"/>
                  <a:pt x="7574803" y="2016599"/>
                  <a:pt x="7572147" y="2003817"/>
                </a:cubicBezTo>
                <a:cubicBezTo>
                  <a:pt x="7612486" y="2043915"/>
                  <a:pt x="7771831" y="2029022"/>
                  <a:pt x="7828975" y="2061508"/>
                </a:cubicBezTo>
                <a:lnTo>
                  <a:pt x="7886804" y="2075509"/>
                </a:lnTo>
                <a:cubicBezTo>
                  <a:pt x="7859463" y="2091010"/>
                  <a:pt x="7941076" y="2081130"/>
                  <a:pt x="7923558" y="2103529"/>
                </a:cubicBezTo>
                <a:lnTo>
                  <a:pt x="7947954" y="2104996"/>
                </a:lnTo>
                <a:lnTo>
                  <a:pt x="7952318" y="2105077"/>
                </a:lnTo>
                <a:lnTo>
                  <a:pt x="7966398" y="2109147"/>
                </a:lnTo>
                <a:lnTo>
                  <a:pt x="7974591" y="2105612"/>
                </a:lnTo>
                <a:lnTo>
                  <a:pt x="7998806" y="2108382"/>
                </a:lnTo>
                <a:cubicBezTo>
                  <a:pt x="8007224" y="2110145"/>
                  <a:pt x="8015519" y="2112885"/>
                  <a:pt x="8023544" y="2117183"/>
                </a:cubicBezTo>
                <a:cubicBezTo>
                  <a:pt x="8042536" y="2139405"/>
                  <a:pt x="8113922" y="2135674"/>
                  <a:pt x="8136247" y="2164190"/>
                </a:cubicBezTo>
                <a:cubicBezTo>
                  <a:pt x="8146485" y="2173150"/>
                  <a:pt x="8190564" y="2191557"/>
                  <a:pt x="8206445" y="2189356"/>
                </a:cubicBezTo>
                <a:cubicBezTo>
                  <a:pt x="8217189" y="2192022"/>
                  <a:pt x="8225092" y="2198625"/>
                  <a:pt x="8237464" y="2194272"/>
                </a:cubicBezTo>
                <a:cubicBezTo>
                  <a:pt x="8254235" y="2189840"/>
                  <a:pt x="8270768" y="2214957"/>
                  <a:pt x="8277853" y="2204259"/>
                </a:cubicBezTo>
                <a:cubicBezTo>
                  <a:pt x="8289971" y="2221808"/>
                  <a:pt x="8328475" y="2213978"/>
                  <a:pt x="8352501" y="2218290"/>
                </a:cubicBezTo>
                <a:cubicBezTo>
                  <a:pt x="8359916" y="2233716"/>
                  <a:pt x="8403014" y="2227555"/>
                  <a:pt x="8446938" y="2243393"/>
                </a:cubicBezTo>
                <a:cubicBezTo>
                  <a:pt x="8454511" y="2260801"/>
                  <a:pt x="8476684" y="2253935"/>
                  <a:pt x="8497138" y="2281506"/>
                </a:cubicBezTo>
                <a:cubicBezTo>
                  <a:pt x="8499906" y="2280770"/>
                  <a:pt x="8502925" y="2280276"/>
                  <a:pt x="8506096" y="2280042"/>
                </a:cubicBezTo>
                <a:cubicBezTo>
                  <a:pt x="8524529" y="2278674"/>
                  <a:pt x="8544098" y="2286123"/>
                  <a:pt x="8549806" y="2296675"/>
                </a:cubicBezTo>
                <a:cubicBezTo>
                  <a:pt x="8586026" y="2337107"/>
                  <a:pt x="8636988" y="2356250"/>
                  <a:pt x="8680256" y="2378758"/>
                </a:cubicBezTo>
                <a:cubicBezTo>
                  <a:pt x="8731302" y="2402123"/>
                  <a:pt x="8717522" y="2366494"/>
                  <a:pt x="8766301" y="2410605"/>
                </a:cubicBezTo>
                <a:cubicBezTo>
                  <a:pt x="8780965" y="2405907"/>
                  <a:pt x="8789790" y="2408871"/>
                  <a:pt x="8800492" y="2418067"/>
                </a:cubicBezTo>
                <a:cubicBezTo>
                  <a:pt x="8825856" y="2428860"/>
                  <a:pt x="8842594" y="2409144"/>
                  <a:pt x="8857555" y="2430810"/>
                </a:cubicBezTo>
                <a:cubicBezTo>
                  <a:pt x="8882799" y="2437942"/>
                  <a:pt x="8927730" y="2453942"/>
                  <a:pt x="8951967" y="2460856"/>
                </a:cubicBezTo>
                <a:cubicBezTo>
                  <a:pt x="8978331" y="2469875"/>
                  <a:pt x="8959838" y="2488515"/>
                  <a:pt x="9002970" y="2472291"/>
                </a:cubicBezTo>
                <a:cubicBezTo>
                  <a:pt x="9023997" y="2488383"/>
                  <a:pt x="9039735" y="2479669"/>
                  <a:pt x="9081613" y="2488296"/>
                </a:cubicBezTo>
                <a:lnTo>
                  <a:pt x="9091561" y="2494386"/>
                </a:lnTo>
                <a:lnTo>
                  <a:pt x="9140625" y="2486779"/>
                </a:lnTo>
                <a:cubicBezTo>
                  <a:pt x="9207053" y="2531245"/>
                  <a:pt x="9151264" y="2467994"/>
                  <a:pt x="9271105" y="2511730"/>
                </a:cubicBezTo>
                <a:cubicBezTo>
                  <a:pt x="9275764" y="2517275"/>
                  <a:pt x="9293352" y="2518083"/>
                  <a:pt x="9295023" y="2512830"/>
                </a:cubicBezTo>
                <a:cubicBezTo>
                  <a:pt x="9301933" y="2516606"/>
                  <a:pt x="9314623" y="2531276"/>
                  <a:pt x="9321673" y="2524119"/>
                </a:cubicBezTo>
                <a:cubicBezTo>
                  <a:pt x="9341881" y="2529408"/>
                  <a:pt x="9361130" y="2536033"/>
                  <a:pt x="9378975" y="2543803"/>
                </a:cubicBezTo>
                <a:lnTo>
                  <a:pt x="9414193" y="2562927"/>
                </a:lnTo>
                <a:lnTo>
                  <a:pt x="9426009" y="2558847"/>
                </a:lnTo>
                <a:cubicBezTo>
                  <a:pt x="9433598" y="2557225"/>
                  <a:pt x="9441714" y="2557145"/>
                  <a:pt x="9450634" y="2560685"/>
                </a:cubicBezTo>
                <a:cubicBezTo>
                  <a:pt x="9496298" y="2596479"/>
                  <a:pt x="9461586" y="2547391"/>
                  <a:pt x="9549097" y="2585168"/>
                </a:cubicBezTo>
                <a:cubicBezTo>
                  <a:pt x="9551956" y="2589460"/>
                  <a:pt x="9565592" y="2590888"/>
                  <a:pt x="9567633" y="2587105"/>
                </a:cubicBezTo>
                <a:cubicBezTo>
                  <a:pt x="9572507" y="2590206"/>
                  <a:pt x="9580361" y="2601581"/>
                  <a:pt x="9586878" y="2596659"/>
                </a:cubicBezTo>
                <a:lnTo>
                  <a:pt x="9589974" y="2598235"/>
                </a:lnTo>
                <a:lnTo>
                  <a:pt x="9590570" y="2598249"/>
                </a:lnTo>
                <a:lnTo>
                  <a:pt x="9591896" y="2599214"/>
                </a:lnTo>
                <a:lnTo>
                  <a:pt x="9604535" y="2605654"/>
                </a:lnTo>
                <a:lnTo>
                  <a:pt x="9610554" y="2606189"/>
                </a:lnTo>
                <a:cubicBezTo>
                  <a:pt x="9641361" y="2613359"/>
                  <a:pt x="9668752" y="2624572"/>
                  <a:pt x="9690072" y="2638745"/>
                </a:cubicBezTo>
                <a:cubicBezTo>
                  <a:pt x="9723195" y="2641319"/>
                  <a:pt x="9726446" y="2647335"/>
                  <a:pt x="9726964" y="2653728"/>
                </a:cubicBezTo>
                <a:cubicBezTo>
                  <a:pt x="9734958" y="2656403"/>
                  <a:pt x="9731670" y="2653170"/>
                  <a:pt x="9738036" y="2654794"/>
                </a:cubicBezTo>
                <a:cubicBezTo>
                  <a:pt x="9745908" y="2657757"/>
                  <a:pt x="9765000" y="2668100"/>
                  <a:pt x="9774202" y="2671509"/>
                </a:cubicBezTo>
                <a:lnTo>
                  <a:pt x="9793246" y="2675245"/>
                </a:lnTo>
                <a:cubicBezTo>
                  <a:pt x="9812596" y="2680039"/>
                  <a:pt x="9869995" y="2696274"/>
                  <a:pt x="9890301" y="2700274"/>
                </a:cubicBezTo>
                <a:cubicBezTo>
                  <a:pt x="9900631" y="2696314"/>
                  <a:pt x="9908572" y="2696560"/>
                  <a:pt x="9915070" y="2699250"/>
                </a:cubicBezTo>
                <a:lnTo>
                  <a:pt x="9976517" y="2732899"/>
                </a:lnTo>
                <a:cubicBezTo>
                  <a:pt x="9981869" y="2727000"/>
                  <a:pt x="9984699" y="2731165"/>
                  <a:pt x="9990168" y="2737877"/>
                </a:cubicBezTo>
                <a:lnTo>
                  <a:pt x="9995041" y="2741223"/>
                </a:lnTo>
                <a:lnTo>
                  <a:pt x="10012636" y="2729876"/>
                </a:lnTo>
                <a:lnTo>
                  <a:pt x="10044280" y="2726966"/>
                </a:lnTo>
                <a:lnTo>
                  <a:pt x="10057934" y="2735671"/>
                </a:lnTo>
                <a:cubicBezTo>
                  <a:pt x="10075281" y="2744341"/>
                  <a:pt x="10128594" y="2769607"/>
                  <a:pt x="10148373" y="2778987"/>
                </a:cubicBezTo>
                <a:lnTo>
                  <a:pt x="10176601" y="2791940"/>
                </a:lnTo>
                <a:cubicBezTo>
                  <a:pt x="10185319" y="2817937"/>
                  <a:pt x="10238746" y="2788423"/>
                  <a:pt x="10235082" y="2816761"/>
                </a:cubicBezTo>
                <a:cubicBezTo>
                  <a:pt x="10261478" y="2797979"/>
                  <a:pt x="10382486" y="2835579"/>
                  <a:pt x="10421684" y="2833871"/>
                </a:cubicBezTo>
                <a:cubicBezTo>
                  <a:pt x="10427369" y="2846480"/>
                  <a:pt x="10490893" y="2829473"/>
                  <a:pt x="10507376" y="2822262"/>
                </a:cubicBezTo>
                <a:cubicBezTo>
                  <a:pt x="10633551" y="2812985"/>
                  <a:pt x="10703974" y="2842678"/>
                  <a:pt x="10738376" y="2833353"/>
                </a:cubicBezTo>
                <a:cubicBezTo>
                  <a:pt x="10827719" y="2830304"/>
                  <a:pt x="10976757" y="2802522"/>
                  <a:pt x="11043443" y="2803954"/>
                </a:cubicBezTo>
                <a:cubicBezTo>
                  <a:pt x="11049567" y="2823106"/>
                  <a:pt x="11121061" y="2794142"/>
                  <a:pt x="11115269" y="2823367"/>
                </a:cubicBezTo>
                <a:cubicBezTo>
                  <a:pt x="11122168" y="2835110"/>
                  <a:pt x="11139334" y="2833959"/>
                  <a:pt x="11147582" y="2822547"/>
                </a:cubicBezTo>
                <a:cubicBezTo>
                  <a:pt x="11168093" y="2823815"/>
                  <a:pt x="11180424" y="2837446"/>
                  <a:pt x="11201205" y="2818210"/>
                </a:cubicBezTo>
                <a:cubicBezTo>
                  <a:pt x="11229430" y="2819282"/>
                  <a:pt x="11368539" y="2855696"/>
                  <a:pt x="11391726" y="2826386"/>
                </a:cubicBezTo>
                <a:cubicBezTo>
                  <a:pt x="11480791" y="2839198"/>
                  <a:pt x="11451058" y="2820936"/>
                  <a:pt x="11507640" y="2824866"/>
                </a:cubicBezTo>
                <a:cubicBezTo>
                  <a:pt x="11607733" y="2861658"/>
                  <a:pt x="11671908" y="2815146"/>
                  <a:pt x="11718056" y="2821969"/>
                </a:cubicBezTo>
                <a:cubicBezTo>
                  <a:pt x="11816707" y="2792061"/>
                  <a:pt x="11860087" y="2819031"/>
                  <a:pt x="11937926" y="2817058"/>
                </a:cubicBezTo>
                <a:cubicBezTo>
                  <a:pt x="11973607" y="2824139"/>
                  <a:pt x="11989529" y="2794506"/>
                  <a:pt x="12035355" y="2813340"/>
                </a:cubicBezTo>
                <a:cubicBezTo>
                  <a:pt x="12062147" y="2782988"/>
                  <a:pt x="12154841" y="2795794"/>
                  <a:pt x="12179047" y="2788508"/>
                </a:cubicBezTo>
                <a:lnTo>
                  <a:pt x="12192000" y="2788486"/>
                </a:lnTo>
                <a:lnTo>
                  <a:pt x="12192000" y="3378280"/>
                </a:lnTo>
                <a:lnTo>
                  <a:pt x="0" y="337828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7C7BF042-4D54-50B2-1217-EA3B04C800F6}"/>
              </a:ext>
            </a:extLst>
          </p:cNvPr>
          <p:cNvSpPr>
            <a:spLocks noGrp="1"/>
          </p:cNvSpPr>
          <p:nvPr>
            <p:ph type="ctrTitle"/>
          </p:nvPr>
        </p:nvSpPr>
        <p:spPr>
          <a:xfrm>
            <a:off x="2402114" y="2039254"/>
            <a:ext cx="7387772" cy="2206171"/>
          </a:xfrm>
        </p:spPr>
        <p:txBody>
          <a:bodyPr anchor="ctr">
            <a:normAutofit/>
          </a:bodyPr>
          <a:lstStyle/>
          <a:p>
            <a:r>
              <a:rPr lang="de-DE" sz="4400" b="1">
                <a:solidFill>
                  <a:schemeClr val="tx1">
                    <a:lumMod val="85000"/>
                    <a:lumOff val="15000"/>
                  </a:schemeClr>
                </a:solidFill>
              </a:rPr>
              <a:t>Fahrerzustand-Klassifikation</a:t>
            </a:r>
            <a:endParaRPr lang="de-DE" sz="4400">
              <a:solidFill>
                <a:schemeClr val="tx1">
                  <a:lumMod val="85000"/>
                  <a:lumOff val="15000"/>
                </a:schemeClr>
              </a:solidFill>
            </a:endParaRPr>
          </a:p>
        </p:txBody>
      </p:sp>
      <p:sp>
        <p:nvSpPr>
          <p:cNvPr id="3" name="Untertitel 2">
            <a:extLst>
              <a:ext uri="{FF2B5EF4-FFF2-40B4-BE49-F238E27FC236}">
                <a16:creationId xmlns:a16="http://schemas.microsoft.com/office/drawing/2014/main" id="{9F78E4B5-0140-0FFE-1B2E-3E67B0A984FF}"/>
              </a:ext>
            </a:extLst>
          </p:cNvPr>
          <p:cNvSpPr>
            <a:spLocks noGrp="1"/>
          </p:cNvSpPr>
          <p:nvPr>
            <p:ph type="subTitle" idx="1"/>
          </p:nvPr>
        </p:nvSpPr>
        <p:spPr>
          <a:xfrm>
            <a:off x="892628" y="5158522"/>
            <a:ext cx="5689601" cy="1087477"/>
          </a:xfrm>
        </p:spPr>
        <p:txBody>
          <a:bodyPr anchor="ctr">
            <a:normAutofit/>
          </a:bodyPr>
          <a:lstStyle/>
          <a:p>
            <a:pPr algn="l"/>
            <a:r>
              <a:rPr lang="de-DE" sz="1800">
                <a:solidFill>
                  <a:schemeClr val="tx1">
                    <a:lumMod val="85000"/>
                    <a:lumOff val="15000"/>
                  </a:schemeClr>
                </a:solidFill>
              </a:rPr>
              <a:t>Von Burak Güldüz</a:t>
            </a:r>
          </a:p>
        </p:txBody>
      </p:sp>
      <p:sp>
        <p:nvSpPr>
          <p:cNvPr id="12" name="Freeform: Shape 11">
            <a:extLst>
              <a:ext uri="{FF2B5EF4-FFF2-40B4-BE49-F238E27FC236}">
                <a16:creationId xmlns:a16="http://schemas.microsoft.com/office/drawing/2014/main" id="{AEFD2FD1-B3A5-4E1D-BCC8-7684A5440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90051" y="0"/>
            <a:ext cx="7301949" cy="91834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410677 w 9517857"/>
              <a:gd name="connsiteY93" fmla="*/ 172167 h 918356"/>
              <a:gd name="connsiteX94" fmla="*/ 8617841 w 9517857"/>
              <a:gd name="connsiteY94" fmla="*/ 155167 h 918356"/>
              <a:gd name="connsiteX95" fmla="*/ 8715976 w 9517857"/>
              <a:gd name="connsiteY95" fmla="*/ 178374 h 918356"/>
              <a:gd name="connsiteX96" fmla="*/ 8778827 w 9517857"/>
              <a:gd name="connsiteY96" fmla="*/ 172936 h 918356"/>
              <a:gd name="connsiteX97" fmla="*/ 8840778 w 9517857"/>
              <a:gd name="connsiteY97" fmla="*/ 143149 h 918356"/>
              <a:gd name="connsiteX98" fmla="*/ 9010380 w 9517857"/>
              <a:gd name="connsiteY98" fmla="*/ 91891 h 918356"/>
              <a:gd name="connsiteX99" fmla="*/ 9110856 w 9517857"/>
              <a:gd name="connsiteY99" fmla="*/ 70997 h 918356"/>
              <a:gd name="connsiteX100" fmla="*/ 9268817 w 9517857"/>
              <a:gd name="connsiteY100" fmla="*/ 53082 h 918356"/>
              <a:gd name="connsiteX101" fmla="*/ 9316667 w 9517857"/>
              <a:gd name="connsiteY101" fmla="*/ 45047 h 918356"/>
              <a:gd name="connsiteX102" fmla="*/ 9428209 w 9517857"/>
              <a:gd name="connsiteY102" fmla="*/ 29923 h 918356"/>
              <a:gd name="connsiteX103" fmla="*/ 9517856 w 9517857"/>
              <a:gd name="connsiteY103"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551625 w 9517857"/>
              <a:gd name="connsiteY93" fmla="*/ 16151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4981173 w 9517857"/>
              <a:gd name="connsiteY68" fmla="*/ 247091 h 918344"/>
              <a:gd name="connsiteX69" fmla="*/ 5060397 w 9517857"/>
              <a:gd name="connsiteY69" fmla="*/ 263676 h 918344"/>
              <a:gd name="connsiteX70" fmla="*/ 5252996 w 9517857"/>
              <a:gd name="connsiteY70" fmla="*/ 270643 h 918344"/>
              <a:gd name="connsiteX71" fmla="*/ 5358056 w 9517857"/>
              <a:gd name="connsiteY71" fmla="*/ 247236 h 918344"/>
              <a:gd name="connsiteX72" fmla="*/ 5426496 w 9517857"/>
              <a:gd name="connsiteY72" fmla="*/ 235130 h 918344"/>
              <a:gd name="connsiteX73" fmla="*/ 5497161 w 9517857"/>
              <a:gd name="connsiteY73" fmla="*/ 228796 h 918344"/>
              <a:gd name="connsiteX74" fmla="*/ 5826043 w 9517857"/>
              <a:gd name="connsiteY74" fmla="*/ 148061 h 918344"/>
              <a:gd name="connsiteX75" fmla="*/ 6013415 w 9517857"/>
              <a:gd name="connsiteY75" fmla="*/ 137304 h 918344"/>
              <a:gd name="connsiteX76" fmla="*/ 6080994 w 9517857"/>
              <a:gd name="connsiteY76" fmla="*/ 142926 h 918344"/>
              <a:gd name="connsiteX77" fmla="*/ 6194152 w 9517857"/>
              <a:gd name="connsiteY77" fmla="*/ 151760 h 918344"/>
              <a:gd name="connsiteX78" fmla="*/ 6281379 w 9517857"/>
              <a:gd name="connsiteY78" fmla="*/ 181614 h 918344"/>
              <a:gd name="connsiteX79" fmla="*/ 6374947 w 9517857"/>
              <a:gd name="connsiteY79" fmla="*/ 179787 h 918344"/>
              <a:gd name="connsiteX80" fmla="*/ 6448518 w 9517857"/>
              <a:gd name="connsiteY80" fmla="*/ 164366 h 918344"/>
              <a:gd name="connsiteX81" fmla="*/ 6544700 w 9517857"/>
              <a:gd name="connsiteY81" fmla="*/ 167149 h 918344"/>
              <a:gd name="connsiteX82" fmla="*/ 6648353 w 9517857"/>
              <a:gd name="connsiteY82" fmla="*/ 172238 h 918344"/>
              <a:gd name="connsiteX83" fmla="*/ 6736227 w 9517857"/>
              <a:gd name="connsiteY83" fmla="*/ 173204 h 918344"/>
              <a:gd name="connsiteX84" fmla="*/ 6977218 w 9517857"/>
              <a:gd name="connsiteY84" fmla="*/ 184277 h 918344"/>
              <a:gd name="connsiteX85" fmla="*/ 7065221 w 9517857"/>
              <a:gd name="connsiteY85" fmla="*/ 227519 h 918344"/>
              <a:gd name="connsiteX86" fmla="*/ 7565449 w 9517857"/>
              <a:gd name="connsiteY86" fmla="*/ 258938 h 918344"/>
              <a:gd name="connsiteX87" fmla="*/ 7599285 w 9517857"/>
              <a:gd name="connsiteY87" fmla="*/ 266009 h 918344"/>
              <a:gd name="connsiteX88" fmla="*/ 7644411 w 9517857"/>
              <a:gd name="connsiteY88" fmla="*/ 258974 h 918344"/>
              <a:gd name="connsiteX89" fmla="*/ 7825110 w 9517857"/>
              <a:gd name="connsiteY89" fmla="*/ 229097 h 918344"/>
              <a:gd name="connsiteX90" fmla="*/ 7965804 w 9517857"/>
              <a:gd name="connsiteY90" fmla="*/ 190533 h 918344"/>
              <a:gd name="connsiteX91" fmla="*/ 8147401 w 9517857"/>
              <a:gd name="connsiteY91" fmla="*/ 205605 h 918344"/>
              <a:gd name="connsiteX92" fmla="*/ 8256033 w 9517857"/>
              <a:gd name="connsiteY92" fmla="*/ 193701 h 918344"/>
              <a:gd name="connsiteX93" fmla="*/ 8551625 w 9517857"/>
              <a:gd name="connsiteY93" fmla="*/ 161505 h 918344"/>
              <a:gd name="connsiteX94" fmla="*/ 8715976 w 9517857"/>
              <a:gd name="connsiteY94" fmla="*/ 178362 h 918344"/>
              <a:gd name="connsiteX95" fmla="*/ 8778827 w 9517857"/>
              <a:gd name="connsiteY95" fmla="*/ 172924 h 918344"/>
              <a:gd name="connsiteX96" fmla="*/ 8840778 w 9517857"/>
              <a:gd name="connsiteY96" fmla="*/ 143137 h 918344"/>
              <a:gd name="connsiteX97" fmla="*/ 9010380 w 9517857"/>
              <a:gd name="connsiteY97" fmla="*/ 91879 h 918344"/>
              <a:gd name="connsiteX98" fmla="*/ 9110856 w 9517857"/>
              <a:gd name="connsiteY98" fmla="*/ 70985 h 918344"/>
              <a:gd name="connsiteX99" fmla="*/ 9268817 w 9517857"/>
              <a:gd name="connsiteY99" fmla="*/ 53070 h 918344"/>
              <a:gd name="connsiteX100" fmla="*/ 9316667 w 9517857"/>
              <a:gd name="connsiteY100" fmla="*/ 45035 h 918344"/>
              <a:gd name="connsiteX101" fmla="*/ 9428209 w 9517857"/>
              <a:gd name="connsiteY101"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5060397 w 9517857"/>
              <a:gd name="connsiteY68" fmla="*/ 263676 h 918344"/>
              <a:gd name="connsiteX69" fmla="*/ 5252996 w 9517857"/>
              <a:gd name="connsiteY69" fmla="*/ 270643 h 918344"/>
              <a:gd name="connsiteX70" fmla="*/ 5358056 w 9517857"/>
              <a:gd name="connsiteY70" fmla="*/ 247236 h 918344"/>
              <a:gd name="connsiteX71" fmla="*/ 5426496 w 9517857"/>
              <a:gd name="connsiteY71" fmla="*/ 235130 h 918344"/>
              <a:gd name="connsiteX72" fmla="*/ 5497161 w 9517857"/>
              <a:gd name="connsiteY72" fmla="*/ 228796 h 918344"/>
              <a:gd name="connsiteX73" fmla="*/ 5826043 w 9517857"/>
              <a:gd name="connsiteY73" fmla="*/ 148061 h 918344"/>
              <a:gd name="connsiteX74" fmla="*/ 6013415 w 9517857"/>
              <a:gd name="connsiteY74" fmla="*/ 137304 h 918344"/>
              <a:gd name="connsiteX75" fmla="*/ 6080994 w 9517857"/>
              <a:gd name="connsiteY75" fmla="*/ 142926 h 918344"/>
              <a:gd name="connsiteX76" fmla="*/ 6194152 w 9517857"/>
              <a:gd name="connsiteY76" fmla="*/ 151760 h 918344"/>
              <a:gd name="connsiteX77" fmla="*/ 6281379 w 9517857"/>
              <a:gd name="connsiteY77" fmla="*/ 181614 h 918344"/>
              <a:gd name="connsiteX78" fmla="*/ 6374947 w 9517857"/>
              <a:gd name="connsiteY78" fmla="*/ 179787 h 918344"/>
              <a:gd name="connsiteX79" fmla="*/ 6448518 w 9517857"/>
              <a:gd name="connsiteY79" fmla="*/ 164366 h 918344"/>
              <a:gd name="connsiteX80" fmla="*/ 6544700 w 9517857"/>
              <a:gd name="connsiteY80" fmla="*/ 167149 h 918344"/>
              <a:gd name="connsiteX81" fmla="*/ 6648353 w 9517857"/>
              <a:gd name="connsiteY81" fmla="*/ 172238 h 918344"/>
              <a:gd name="connsiteX82" fmla="*/ 6736227 w 9517857"/>
              <a:gd name="connsiteY82" fmla="*/ 173204 h 918344"/>
              <a:gd name="connsiteX83" fmla="*/ 6977218 w 9517857"/>
              <a:gd name="connsiteY83" fmla="*/ 184277 h 918344"/>
              <a:gd name="connsiteX84" fmla="*/ 7065221 w 9517857"/>
              <a:gd name="connsiteY84" fmla="*/ 227519 h 918344"/>
              <a:gd name="connsiteX85" fmla="*/ 7565449 w 9517857"/>
              <a:gd name="connsiteY85" fmla="*/ 258938 h 918344"/>
              <a:gd name="connsiteX86" fmla="*/ 7599285 w 9517857"/>
              <a:gd name="connsiteY86" fmla="*/ 266009 h 918344"/>
              <a:gd name="connsiteX87" fmla="*/ 7644411 w 9517857"/>
              <a:gd name="connsiteY87" fmla="*/ 258974 h 918344"/>
              <a:gd name="connsiteX88" fmla="*/ 7825110 w 9517857"/>
              <a:gd name="connsiteY88" fmla="*/ 229097 h 918344"/>
              <a:gd name="connsiteX89" fmla="*/ 7965804 w 9517857"/>
              <a:gd name="connsiteY89" fmla="*/ 190533 h 918344"/>
              <a:gd name="connsiteX90" fmla="*/ 8147401 w 9517857"/>
              <a:gd name="connsiteY90" fmla="*/ 205605 h 918344"/>
              <a:gd name="connsiteX91" fmla="*/ 8256033 w 9517857"/>
              <a:gd name="connsiteY91" fmla="*/ 193701 h 918344"/>
              <a:gd name="connsiteX92" fmla="*/ 8551625 w 9517857"/>
              <a:gd name="connsiteY92" fmla="*/ 161505 h 918344"/>
              <a:gd name="connsiteX93" fmla="*/ 8715976 w 9517857"/>
              <a:gd name="connsiteY93" fmla="*/ 178362 h 918344"/>
              <a:gd name="connsiteX94" fmla="*/ 8778827 w 9517857"/>
              <a:gd name="connsiteY94" fmla="*/ 172924 h 918344"/>
              <a:gd name="connsiteX95" fmla="*/ 8840778 w 9517857"/>
              <a:gd name="connsiteY95" fmla="*/ 143137 h 918344"/>
              <a:gd name="connsiteX96" fmla="*/ 9010380 w 9517857"/>
              <a:gd name="connsiteY96" fmla="*/ 91879 h 918344"/>
              <a:gd name="connsiteX97" fmla="*/ 9110856 w 9517857"/>
              <a:gd name="connsiteY97" fmla="*/ 70985 h 918344"/>
              <a:gd name="connsiteX98" fmla="*/ 9268817 w 9517857"/>
              <a:gd name="connsiteY98" fmla="*/ 53070 h 918344"/>
              <a:gd name="connsiteX99" fmla="*/ 9316667 w 9517857"/>
              <a:gd name="connsiteY99" fmla="*/ 45035 h 918344"/>
              <a:gd name="connsiteX100" fmla="*/ 9428209 w 9517857"/>
              <a:gd name="connsiteY100"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26043 w 9517857"/>
              <a:gd name="connsiteY72" fmla="*/ 148061 h 918344"/>
              <a:gd name="connsiteX73" fmla="*/ 6013415 w 9517857"/>
              <a:gd name="connsiteY73" fmla="*/ 137304 h 918344"/>
              <a:gd name="connsiteX74" fmla="*/ 6080994 w 9517857"/>
              <a:gd name="connsiteY74" fmla="*/ 142926 h 918344"/>
              <a:gd name="connsiteX75" fmla="*/ 6194152 w 9517857"/>
              <a:gd name="connsiteY75" fmla="*/ 151760 h 918344"/>
              <a:gd name="connsiteX76" fmla="*/ 6281379 w 9517857"/>
              <a:gd name="connsiteY76" fmla="*/ 181614 h 918344"/>
              <a:gd name="connsiteX77" fmla="*/ 6374947 w 9517857"/>
              <a:gd name="connsiteY77" fmla="*/ 179787 h 918344"/>
              <a:gd name="connsiteX78" fmla="*/ 6448518 w 9517857"/>
              <a:gd name="connsiteY78" fmla="*/ 164366 h 918344"/>
              <a:gd name="connsiteX79" fmla="*/ 6544700 w 9517857"/>
              <a:gd name="connsiteY79" fmla="*/ 167149 h 918344"/>
              <a:gd name="connsiteX80" fmla="*/ 6648353 w 9517857"/>
              <a:gd name="connsiteY80" fmla="*/ 172238 h 918344"/>
              <a:gd name="connsiteX81" fmla="*/ 6736227 w 9517857"/>
              <a:gd name="connsiteY81" fmla="*/ 173204 h 918344"/>
              <a:gd name="connsiteX82" fmla="*/ 6977218 w 9517857"/>
              <a:gd name="connsiteY82" fmla="*/ 184277 h 918344"/>
              <a:gd name="connsiteX83" fmla="*/ 7065221 w 9517857"/>
              <a:gd name="connsiteY83" fmla="*/ 227519 h 918344"/>
              <a:gd name="connsiteX84" fmla="*/ 7565449 w 9517857"/>
              <a:gd name="connsiteY84" fmla="*/ 258938 h 918344"/>
              <a:gd name="connsiteX85" fmla="*/ 7599285 w 9517857"/>
              <a:gd name="connsiteY85" fmla="*/ 266009 h 918344"/>
              <a:gd name="connsiteX86" fmla="*/ 7644411 w 9517857"/>
              <a:gd name="connsiteY86" fmla="*/ 258974 h 918344"/>
              <a:gd name="connsiteX87" fmla="*/ 7825110 w 9517857"/>
              <a:gd name="connsiteY87" fmla="*/ 229097 h 918344"/>
              <a:gd name="connsiteX88" fmla="*/ 7965804 w 9517857"/>
              <a:gd name="connsiteY88" fmla="*/ 190533 h 918344"/>
              <a:gd name="connsiteX89" fmla="*/ 8147401 w 9517857"/>
              <a:gd name="connsiteY89" fmla="*/ 205605 h 918344"/>
              <a:gd name="connsiteX90" fmla="*/ 8256033 w 9517857"/>
              <a:gd name="connsiteY90" fmla="*/ 193701 h 918344"/>
              <a:gd name="connsiteX91" fmla="*/ 8551625 w 9517857"/>
              <a:gd name="connsiteY91" fmla="*/ 161505 h 918344"/>
              <a:gd name="connsiteX92" fmla="*/ 8715976 w 9517857"/>
              <a:gd name="connsiteY92" fmla="*/ 178362 h 918344"/>
              <a:gd name="connsiteX93" fmla="*/ 8778827 w 9517857"/>
              <a:gd name="connsiteY93" fmla="*/ 172924 h 918344"/>
              <a:gd name="connsiteX94" fmla="*/ 8840778 w 9517857"/>
              <a:gd name="connsiteY94" fmla="*/ 143137 h 918344"/>
              <a:gd name="connsiteX95" fmla="*/ 9010380 w 9517857"/>
              <a:gd name="connsiteY95" fmla="*/ 91879 h 918344"/>
              <a:gd name="connsiteX96" fmla="*/ 9110856 w 9517857"/>
              <a:gd name="connsiteY96" fmla="*/ 70985 h 918344"/>
              <a:gd name="connsiteX97" fmla="*/ 9268817 w 9517857"/>
              <a:gd name="connsiteY97" fmla="*/ 53070 h 918344"/>
              <a:gd name="connsiteX98" fmla="*/ 9316667 w 9517857"/>
              <a:gd name="connsiteY98" fmla="*/ 45035 h 918344"/>
              <a:gd name="connsiteX99" fmla="*/ 9428209 w 9517857"/>
              <a:gd name="connsiteY99"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6013415 w 9517857"/>
              <a:gd name="connsiteY72" fmla="*/ 13730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433745 w 9517857"/>
              <a:gd name="connsiteY84" fmla="*/ 24695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547829 w 9517857"/>
              <a:gd name="connsiteY34" fmla="*/ 5661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47401 w 9517857"/>
              <a:gd name="connsiteY86" fmla="*/ 2056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06016 w 9517857"/>
              <a:gd name="connsiteY86" fmla="*/ 2310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6014778 w 9517857"/>
              <a:gd name="connsiteY71" fmla="*/ 16832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840778 w 9517857"/>
              <a:gd name="connsiteY89" fmla="*/ 143137 h 918344"/>
              <a:gd name="connsiteX90" fmla="*/ 9010380 w 9517857"/>
              <a:gd name="connsiteY90" fmla="*/ 91879 h 918344"/>
              <a:gd name="connsiteX91" fmla="*/ 9110856 w 9517857"/>
              <a:gd name="connsiteY91" fmla="*/ 70985 h 918344"/>
              <a:gd name="connsiteX92" fmla="*/ 9268817 w 9517857"/>
              <a:gd name="connsiteY92" fmla="*/ 53070 h 918344"/>
              <a:gd name="connsiteX93" fmla="*/ 9316667 w 9517857"/>
              <a:gd name="connsiteY93" fmla="*/ 45035 h 918344"/>
              <a:gd name="connsiteX94" fmla="*/ 9428209 w 9517857"/>
              <a:gd name="connsiteY94"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840778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63955 w 9517857"/>
              <a:gd name="connsiteY85" fmla="*/ 2056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9517857" h="918344">
                <a:moveTo>
                  <a:pt x="4686423" y="247907"/>
                </a:moveTo>
                <a:lnTo>
                  <a:pt x="4689051" y="250956"/>
                </a:lnTo>
                <a:lnTo>
                  <a:pt x="4687244" y="251286"/>
                </a:lnTo>
                <a:lnTo>
                  <a:pt x="4686423" y="247907"/>
                </a:lnTo>
                <a:close/>
                <a:moveTo>
                  <a:pt x="4685225" y="246518"/>
                </a:moveTo>
                <a:cubicBezTo>
                  <a:pt x="4688837" y="243186"/>
                  <a:pt x="4687468" y="244586"/>
                  <a:pt x="4686133" y="246715"/>
                </a:cubicBezTo>
                <a:cubicBezTo>
                  <a:pt x="4686230" y="247112"/>
                  <a:pt x="4686326" y="247510"/>
                  <a:pt x="4686423" y="247907"/>
                </a:cubicBezTo>
                <a:lnTo>
                  <a:pt x="4685225" y="246518"/>
                </a:lnTo>
                <a:close/>
                <a:moveTo>
                  <a:pt x="9428209" y="29911"/>
                </a:moveTo>
                <a:lnTo>
                  <a:pt x="9517857" y="0"/>
                </a:lnTo>
                <a:lnTo>
                  <a:pt x="9517857" y="918344"/>
                </a:lnTo>
                <a:lnTo>
                  <a:pt x="14604" y="918344"/>
                </a:lnTo>
                <a:lnTo>
                  <a:pt x="12841" y="917751"/>
                </a:lnTo>
                <a:cubicBezTo>
                  <a:pt x="4532" y="914852"/>
                  <a:pt x="-773" y="912795"/>
                  <a:pt x="93" y="912459"/>
                </a:cubicBezTo>
                <a:cubicBezTo>
                  <a:pt x="172" y="912286"/>
                  <a:pt x="58594" y="890483"/>
                  <a:pt x="58674" y="890310"/>
                </a:cubicBezTo>
                <a:cubicBezTo>
                  <a:pt x="127436" y="929602"/>
                  <a:pt x="206243" y="828214"/>
                  <a:pt x="275005" y="807217"/>
                </a:cubicBezTo>
                <a:cubicBezTo>
                  <a:pt x="303983" y="806075"/>
                  <a:pt x="504960" y="777363"/>
                  <a:pt x="587824" y="798183"/>
                </a:cubicBezTo>
                <a:cubicBezTo>
                  <a:pt x="598733" y="769336"/>
                  <a:pt x="682904" y="785912"/>
                  <a:pt x="651826" y="738326"/>
                </a:cubicBezTo>
                <a:cubicBezTo>
                  <a:pt x="688440" y="737850"/>
                  <a:pt x="753255" y="750384"/>
                  <a:pt x="727985" y="719814"/>
                </a:cubicBezTo>
                <a:cubicBezTo>
                  <a:pt x="739648" y="718737"/>
                  <a:pt x="775717" y="715075"/>
                  <a:pt x="778982" y="710130"/>
                </a:cubicBezTo>
                <a:cubicBezTo>
                  <a:pt x="779189" y="709395"/>
                  <a:pt x="849736" y="718709"/>
                  <a:pt x="849944" y="717975"/>
                </a:cubicBezTo>
                <a:lnTo>
                  <a:pt x="921659" y="712683"/>
                </a:lnTo>
                <a:lnTo>
                  <a:pt x="930946" y="734034"/>
                </a:lnTo>
                <a:lnTo>
                  <a:pt x="986250" y="713518"/>
                </a:lnTo>
                <a:lnTo>
                  <a:pt x="1013752" y="713349"/>
                </a:lnTo>
                <a:lnTo>
                  <a:pt x="1023734" y="718559"/>
                </a:lnTo>
                <a:cubicBezTo>
                  <a:pt x="1033291" y="721264"/>
                  <a:pt x="1045398" y="721382"/>
                  <a:pt x="1063207" y="715639"/>
                </a:cubicBezTo>
                <a:lnTo>
                  <a:pt x="1081980" y="738443"/>
                </a:lnTo>
                <a:lnTo>
                  <a:pt x="1218120" y="713268"/>
                </a:lnTo>
                <a:cubicBezTo>
                  <a:pt x="1230137" y="716150"/>
                  <a:pt x="1387179" y="685167"/>
                  <a:pt x="1397459" y="691178"/>
                </a:cubicBezTo>
                <a:cubicBezTo>
                  <a:pt x="1490025" y="704972"/>
                  <a:pt x="1465878" y="715592"/>
                  <a:pt x="1580688" y="693685"/>
                </a:cubicBezTo>
                <a:cubicBezTo>
                  <a:pt x="1607067" y="704367"/>
                  <a:pt x="1719477" y="658227"/>
                  <a:pt x="1772334" y="710628"/>
                </a:cubicBezTo>
                <a:cubicBezTo>
                  <a:pt x="1745536" y="644812"/>
                  <a:pt x="1976078" y="716424"/>
                  <a:pt x="2002561" y="659905"/>
                </a:cubicBezTo>
                <a:cubicBezTo>
                  <a:pt x="2045346" y="660345"/>
                  <a:pt x="2166676" y="654379"/>
                  <a:pt x="2135144" y="636489"/>
                </a:cubicBezTo>
                <a:cubicBezTo>
                  <a:pt x="2226022" y="620861"/>
                  <a:pt x="2361353" y="588467"/>
                  <a:pt x="2448505" y="578838"/>
                </a:cubicBezTo>
                <a:cubicBezTo>
                  <a:pt x="2446114" y="626857"/>
                  <a:pt x="2632278" y="528268"/>
                  <a:pt x="2658055" y="578715"/>
                </a:cubicBezTo>
                <a:cubicBezTo>
                  <a:pt x="2670795" y="573569"/>
                  <a:pt x="2682322" y="566993"/>
                  <a:pt x="2693698" y="560017"/>
                </a:cubicBezTo>
                <a:lnTo>
                  <a:pt x="2699673" y="556388"/>
                </a:lnTo>
                <a:lnTo>
                  <a:pt x="2727306" y="550686"/>
                </a:lnTo>
                <a:lnTo>
                  <a:pt x="2730451" y="538046"/>
                </a:lnTo>
                <a:lnTo>
                  <a:pt x="2768713" y="521563"/>
                </a:lnTo>
                <a:cubicBezTo>
                  <a:pt x="2783756" y="517092"/>
                  <a:pt x="2800788" y="514279"/>
                  <a:pt x="2820868" y="514148"/>
                </a:cubicBezTo>
                <a:cubicBezTo>
                  <a:pt x="2894791" y="532873"/>
                  <a:pt x="2981506" y="465495"/>
                  <a:pt x="3073635" y="491282"/>
                </a:cubicBezTo>
                <a:cubicBezTo>
                  <a:pt x="3106872" y="496612"/>
                  <a:pt x="3205785" y="487706"/>
                  <a:pt x="3222071" y="470547"/>
                </a:cubicBezTo>
                <a:cubicBezTo>
                  <a:pt x="3242193" y="465502"/>
                  <a:pt x="3267163" y="469124"/>
                  <a:pt x="3274069" y="451593"/>
                </a:cubicBezTo>
                <a:cubicBezTo>
                  <a:pt x="3286659" y="430153"/>
                  <a:pt x="3363648" y="455559"/>
                  <a:pt x="3349632" y="432571"/>
                </a:cubicBezTo>
                <a:lnTo>
                  <a:pt x="3479593" y="390425"/>
                </a:lnTo>
                <a:cubicBezTo>
                  <a:pt x="3546325" y="380108"/>
                  <a:pt x="3689266" y="375631"/>
                  <a:pt x="3750023" y="370666"/>
                </a:cubicBezTo>
                <a:cubicBezTo>
                  <a:pt x="3810780" y="365701"/>
                  <a:pt x="3796187" y="363985"/>
                  <a:pt x="3844133" y="360636"/>
                </a:cubicBezTo>
                <a:cubicBezTo>
                  <a:pt x="3892079" y="357287"/>
                  <a:pt x="4007004" y="338828"/>
                  <a:pt x="4037701" y="350573"/>
                </a:cubicBezTo>
                <a:cubicBezTo>
                  <a:pt x="4133026" y="338752"/>
                  <a:pt x="4159924" y="363178"/>
                  <a:pt x="4266740" y="361442"/>
                </a:cubicBezTo>
                <a:cubicBezTo>
                  <a:pt x="4385770" y="354362"/>
                  <a:pt x="4314535" y="340131"/>
                  <a:pt x="4430770" y="342631"/>
                </a:cubicBezTo>
                <a:cubicBezTo>
                  <a:pt x="4439969" y="322582"/>
                  <a:pt x="4478290" y="314633"/>
                  <a:pt x="4512664" y="319936"/>
                </a:cubicBezTo>
                <a:cubicBezTo>
                  <a:pt x="4570011" y="315126"/>
                  <a:pt x="4549085" y="269587"/>
                  <a:pt x="4616423" y="290902"/>
                </a:cubicBezTo>
                <a:cubicBezTo>
                  <a:pt x="4599641" y="270265"/>
                  <a:pt x="4692085" y="269204"/>
                  <a:pt x="4691675" y="253999"/>
                </a:cubicBezTo>
                <a:lnTo>
                  <a:pt x="4689051" y="250956"/>
                </a:lnTo>
                <a:lnTo>
                  <a:pt x="4719994" y="245295"/>
                </a:lnTo>
                <a:cubicBezTo>
                  <a:pt x="4732635" y="242763"/>
                  <a:pt x="4745300" y="240323"/>
                  <a:pt x="4752894" y="239863"/>
                </a:cubicBezTo>
                <a:lnTo>
                  <a:pt x="4769329" y="233573"/>
                </a:lnTo>
                <a:lnTo>
                  <a:pt x="4775634" y="234051"/>
                </a:lnTo>
                <a:lnTo>
                  <a:pt x="4790452" y="233560"/>
                </a:lnTo>
                <a:lnTo>
                  <a:pt x="4789062" y="241912"/>
                </a:lnTo>
                <a:cubicBezTo>
                  <a:pt x="4786342" y="249920"/>
                  <a:pt x="4804560" y="248619"/>
                  <a:pt x="4827826" y="246965"/>
                </a:cubicBezTo>
                <a:cubicBezTo>
                  <a:pt x="4875782" y="239557"/>
                  <a:pt x="4874112" y="283401"/>
                  <a:pt x="4892569" y="249921"/>
                </a:cubicBezTo>
                <a:lnTo>
                  <a:pt x="4896611" y="240436"/>
                </a:lnTo>
                <a:lnTo>
                  <a:pt x="4917286" y="243647"/>
                </a:lnTo>
                <a:cubicBezTo>
                  <a:pt x="4944584" y="247520"/>
                  <a:pt x="5004445" y="259177"/>
                  <a:pt x="5060397" y="263676"/>
                </a:cubicBezTo>
                <a:cubicBezTo>
                  <a:pt x="5093356" y="238577"/>
                  <a:pt x="5149615" y="249939"/>
                  <a:pt x="5244719" y="245243"/>
                </a:cubicBezTo>
                <a:cubicBezTo>
                  <a:pt x="5280563" y="216460"/>
                  <a:pt x="5287005" y="287909"/>
                  <a:pt x="5358056" y="247236"/>
                </a:cubicBezTo>
                <a:cubicBezTo>
                  <a:pt x="5361752" y="250245"/>
                  <a:pt x="5403312" y="238203"/>
                  <a:pt x="5426496" y="235130"/>
                </a:cubicBezTo>
                <a:cubicBezTo>
                  <a:pt x="5449679" y="232057"/>
                  <a:pt x="5473549" y="245599"/>
                  <a:pt x="5497161" y="228796"/>
                </a:cubicBezTo>
                <a:cubicBezTo>
                  <a:pt x="5639351" y="214989"/>
                  <a:pt x="5707050" y="169433"/>
                  <a:pt x="5923732" y="187376"/>
                </a:cubicBezTo>
                <a:cubicBezTo>
                  <a:pt x="5980821" y="181528"/>
                  <a:pt x="6140195" y="184371"/>
                  <a:pt x="6194152" y="151760"/>
                </a:cubicBezTo>
                <a:cubicBezTo>
                  <a:pt x="6187280" y="177771"/>
                  <a:pt x="6304222" y="153398"/>
                  <a:pt x="6281379" y="181614"/>
                </a:cubicBezTo>
                <a:cubicBezTo>
                  <a:pt x="6321899" y="201807"/>
                  <a:pt x="6335111" y="162578"/>
                  <a:pt x="6374947" y="179787"/>
                </a:cubicBezTo>
                <a:cubicBezTo>
                  <a:pt x="6417404" y="181324"/>
                  <a:pt x="6402484" y="169682"/>
                  <a:pt x="6448518" y="164366"/>
                </a:cubicBezTo>
                <a:cubicBezTo>
                  <a:pt x="6504958" y="162476"/>
                  <a:pt x="6493438" y="111191"/>
                  <a:pt x="6544700" y="167149"/>
                </a:cubicBezTo>
                <a:cubicBezTo>
                  <a:pt x="6601507" y="148685"/>
                  <a:pt x="6566269" y="164374"/>
                  <a:pt x="6648353" y="172238"/>
                </a:cubicBezTo>
                <a:cubicBezTo>
                  <a:pt x="6680008" y="155211"/>
                  <a:pt x="6707960" y="160661"/>
                  <a:pt x="6736227" y="173204"/>
                </a:cubicBezTo>
                <a:cubicBezTo>
                  <a:pt x="6813963" y="164272"/>
                  <a:pt x="6888143" y="181284"/>
                  <a:pt x="6977218" y="184277"/>
                </a:cubicBezTo>
                <a:cubicBezTo>
                  <a:pt x="7040424" y="188306"/>
                  <a:pt x="7000291" y="215076"/>
                  <a:pt x="7065221" y="227519"/>
                </a:cubicBezTo>
                <a:cubicBezTo>
                  <a:pt x="7130151" y="239962"/>
                  <a:pt x="7277790" y="252523"/>
                  <a:pt x="7366801" y="258938"/>
                </a:cubicBezTo>
                <a:cubicBezTo>
                  <a:pt x="7377311" y="252420"/>
                  <a:pt x="7435314" y="238566"/>
                  <a:pt x="7433745" y="246959"/>
                </a:cubicBezTo>
                <a:cubicBezTo>
                  <a:pt x="7446076" y="243878"/>
                  <a:pt x="7639946" y="245807"/>
                  <a:pt x="7644411" y="258974"/>
                </a:cubicBezTo>
                <a:cubicBezTo>
                  <a:pt x="7708015" y="258000"/>
                  <a:pt x="7770249" y="247712"/>
                  <a:pt x="7825110" y="229097"/>
                </a:cubicBezTo>
                <a:cubicBezTo>
                  <a:pt x="7908941" y="220202"/>
                  <a:pt x="8092134" y="211504"/>
                  <a:pt x="8163955" y="205605"/>
                </a:cubicBezTo>
                <a:cubicBezTo>
                  <a:pt x="8183007" y="196598"/>
                  <a:pt x="8225048" y="207087"/>
                  <a:pt x="8256033" y="193701"/>
                </a:cubicBezTo>
                <a:cubicBezTo>
                  <a:pt x="8334440" y="185293"/>
                  <a:pt x="8474968" y="164062"/>
                  <a:pt x="8551625" y="161505"/>
                </a:cubicBezTo>
                <a:cubicBezTo>
                  <a:pt x="8649083" y="153078"/>
                  <a:pt x="8607056" y="154741"/>
                  <a:pt x="8683515" y="143137"/>
                </a:cubicBezTo>
                <a:cubicBezTo>
                  <a:pt x="8746256" y="121084"/>
                  <a:pt x="8897706" y="99547"/>
                  <a:pt x="9002103" y="85529"/>
                </a:cubicBezTo>
                <a:cubicBezTo>
                  <a:pt x="9018826" y="50490"/>
                  <a:pt x="9112524" y="108345"/>
                  <a:pt x="9110856" y="70985"/>
                </a:cubicBezTo>
                <a:cubicBezTo>
                  <a:pt x="9148189" y="94238"/>
                  <a:pt x="9209809" y="53273"/>
                  <a:pt x="9268817" y="53070"/>
                </a:cubicBezTo>
                <a:cubicBezTo>
                  <a:pt x="9279135" y="35985"/>
                  <a:pt x="9292736" y="36508"/>
                  <a:pt x="9316667" y="45035"/>
                </a:cubicBezTo>
                <a:cubicBezTo>
                  <a:pt x="9352186" y="45850"/>
                  <a:pt x="9390008" y="39787"/>
                  <a:pt x="9428209" y="29911"/>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liennummernplatzhalter 3">
            <a:extLst>
              <a:ext uri="{FF2B5EF4-FFF2-40B4-BE49-F238E27FC236}">
                <a16:creationId xmlns:a16="http://schemas.microsoft.com/office/drawing/2014/main" id="{FAB0B2E7-11D0-3869-8525-4DCC1D8565B3}"/>
              </a:ext>
            </a:extLst>
          </p:cNvPr>
          <p:cNvSpPr>
            <a:spLocks noGrp="1"/>
          </p:cNvSpPr>
          <p:nvPr>
            <p:ph type="sldNum" sz="quarter" idx="12"/>
          </p:nvPr>
        </p:nvSpPr>
        <p:spPr/>
        <p:txBody>
          <a:bodyPr/>
          <a:lstStyle/>
          <a:p>
            <a:fld id="{C1E9208F-C39B-4C02-96DE-7FDA3955F0A6}" type="slidenum">
              <a:rPr lang="de-DE" smtClean="0"/>
              <a:t>1</a:t>
            </a:fld>
            <a:endParaRPr lang="de-DE"/>
          </a:p>
        </p:txBody>
      </p:sp>
    </p:spTree>
    <p:extLst>
      <p:ext uri="{BB962C8B-B14F-4D97-AF65-F5344CB8AC3E}">
        <p14:creationId xmlns:p14="http://schemas.microsoft.com/office/powerpoint/2010/main" val="386713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AE7457E2-3F29-37C5-443B-E38EEBF5BEB3}"/>
              </a:ext>
            </a:extLst>
          </p:cNvPr>
          <p:cNvSpPr>
            <a:spLocks noGrp="1"/>
          </p:cNvSpPr>
          <p:nvPr>
            <p:ph type="title"/>
          </p:nvPr>
        </p:nvSpPr>
        <p:spPr>
          <a:xfrm>
            <a:off x="1137036" y="548640"/>
            <a:ext cx="9916632" cy="1188720"/>
          </a:xfrm>
        </p:spPr>
        <p:txBody>
          <a:bodyPr>
            <a:normAutofit/>
          </a:bodyPr>
          <a:lstStyle/>
          <a:p>
            <a:r>
              <a:rPr lang="de-DE" b="1">
                <a:solidFill>
                  <a:schemeClr val="tx1">
                    <a:lumMod val="85000"/>
                    <a:lumOff val="15000"/>
                  </a:schemeClr>
                </a:solidFill>
              </a:rPr>
              <a:t>Motivation &amp; Problemstellung</a:t>
            </a:r>
            <a:endParaRPr lang="de-DE">
              <a:solidFill>
                <a:schemeClr val="tx1">
                  <a:lumMod val="85000"/>
                  <a:lumOff val="15000"/>
                </a:schemeClr>
              </a:solidFill>
            </a:endParaRPr>
          </a:p>
        </p:txBody>
      </p:sp>
      <p:sp>
        <p:nvSpPr>
          <p:cNvPr id="3" name="Inhaltsplatzhalter 2">
            <a:extLst>
              <a:ext uri="{FF2B5EF4-FFF2-40B4-BE49-F238E27FC236}">
                <a16:creationId xmlns:a16="http://schemas.microsoft.com/office/drawing/2014/main" id="{5C8D8BDF-69BC-00B4-ACA9-279CCFCFC0C9}"/>
              </a:ext>
            </a:extLst>
          </p:cNvPr>
          <p:cNvSpPr>
            <a:spLocks noGrp="1"/>
          </p:cNvSpPr>
          <p:nvPr>
            <p:ph idx="1"/>
          </p:nvPr>
        </p:nvSpPr>
        <p:spPr>
          <a:xfrm>
            <a:off x="1957987" y="2431767"/>
            <a:ext cx="8276026" cy="3685156"/>
          </a:xfrm>
        </p:spPr>
        <p:txBody>
          <a:bodyPr anchor="ctr">
            <a:normAutofit/>
          </a:bodyPr>
          <a:lstStyle/>
          <a:p>
            <a:pPr marL="0" indent="0">
              <a:buNone/>
            </a:pPr>
            <a:r>
              <a:rPr lang="de-DE" sz="2000" b="1" dirty="0">
                <a:solidFill>
                  <a:schemeClr val="tx1">
                    <a:lumMod val="85000"/>
                    <a:lumOff val="15000"/>
                  </a:schemeClr>
                </a:solidFill>
              </a:rPr>
              <a:t>Warum?</a:t>
            </a:r>
          </a:p>
          <a:p>
            <a:pPr marL="0" indent="0">
              <a:buNone/>
            </a:pPr>
            <a:r>
              <a:rPr lang="de-DE" sz="2000" dirty="0">
                <a:solidFill>
                  <a:schemeClr val="tx1">
                    <a:lumMod val="85000"/>
                    <a:lumOff val="15000"/>
                  </a:schemeClr>
                </a:solidFill>
              </a:rPr>
              <a:t>94% aller Verkehrsunfälle entstehen durch menschliches Fehlverhalten. Aktuelle Systeme wie Tesla Autopilot nutzen nur Drucksensoren im Lenkrad – das erkennt Ablenkung ohne Hände am Lenkrad nicht.</a:t>
            </a:r>
          </a:p>
          <a:p>
            <a:pPr marL="0" indent="0">
              <a:buNone/>
            </a:pPr>
            <a:r>
              <a:rPr lang="de-DE" sz="2000" b="1" dirty="0">
                <a:solidFill>
                  <a:schemeClr val="tx1">
                    <a:lumMod val="85000"/>
                    <a:lumOff val="15000"/>
                  </a:schemeClr>
                </a:solidFill>
              </a:rPr>
              <a:t>Das Problem</a:t>
            </a:r>
          </a:p>
          <a:p>
            <a:pPr marL="0" indent="0">
              <a:buNone/>
            </a:pPr>
            <a:r>
              <a:rPr lang="de-DE" sz="2000" dirty="0">
                <a:solidFill>
                  <a:schemeClr val="tx1">
                    <a:lumMod val="85000"/>
                    <a:lumOff val="15000"/>
                  </a:schemeClr>
                </a:solidFill>
              </a:rPr>
              <a:t>Wir haben Rohdaten aus dem VTI-Fahrsimulator, aber keine manuellen Ground-Truth-Labels. Wie generieren wir Labels objektiv, ohne zirkuläre Logik zu schaffen?</a:t>
            </a:r>
            <a:br>
              <a:rPr lang="de-DE" sz="2000" dirty="0">
                <a:solidFill>
                  <a:schemeClr val="tx1">
                    <a:lumMod val="85000"/>
                    <a:lumOff val="15000"/>
                  </a:schemeClr>
                </a:solidFill>
              </a:rPr>
            </a:br>
            <a:br>
              <a:rPr lang="de-DE" sz="2000" dirty="0">
                <a:solidFill>
                  <a:schemeClr val="tx1">
                    <a:lumMod val="85000"/>
                    <a:lumOff val="15000"/>
                  </a:schemeClr>
                </a:solidFill>
              </a:rPr>
            </a:br>
            <a:endParaRPr lang="de-DE" sz="2000" dirty="0">
              <a:solidFill>
                <a:schemeClr val="tx1">
                  <a:lumMod val="85000"/>
                  <a:lumOff val="15000"/>
                </a:schemeClr>
              </a:solidFill>
            </a:endParaRPr>
          </a:p>
        </p:txBody>
      </p:sp>
      <p:sp>
        <p:nvSpPr>
          <p:cNvPr id="4" name="Foliennummernplatzhalter 3">
            <a:extLst>
              <a:ext uri="{FF2B5EF4-FFF2-40B4-BE49-F238E27FC236}">
                <a16:creationId xmlns:a16="http://schemas.microsoft.com/office/drawing/2014/main" id="{E9A524C9-EB11-8B4E-EC28-0D102944B31E}"/>
              </a:ext>
            </a:extLst>
          </p:cNvPr>
          <p:cNvSpPr>
            <a:spLocks noGrp="1"/>
          </p:cNvSpPr>
          <p:nvPr>
            <p:ph type="sldNum" sz="quarter" idx="12"/>
          </p:nvPr>
        </p:nvSpPr>
        <p:spPr/>
        <p:txBody>
          <a:bodyPr/>
          <a:lstStyle/>
          <a:p>
            <a:fld id="{C1E9208F-C39B-4C02-96DE-7FDA3955F0A6}" type="slidenum">
              <a:rPr lang="de-DE" smtClean="0"/>
              <a:t>2</a:t>
            </a:fld>
            <a:endParaRPr lang="de-DE"/>
          </a:p>
        </p:txBody>
      </p:sp>
    </p:spTree>
    <p:extLst>
      <p:ext uri="{BB962C8B-B14F-4D97-AF65-F5344CB8AC3E}">
        <p14:creationId xmlns:p14="http://schemas.microsoft.com/office/powerpoint/2010/main" val="2187956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8369585B-1530-533A-9ACA-76B488FD5438}"/>
              </a:ext>
            </a:extLst>
          </p:cNvPr>
          <p:cNvSpPr>
            <a:spLocks noGrp="1"/>
          </p:cNvSpPr>
          <p:nvPr>
            <p:ph type="title"/>
          </p:nvPr>
        </p:nvSpPr>
        <p:spPr>
          <a:xfrm>
            <a:off x="1137036" y="548640"/>
            <a:ext cx="9916632" cy="1188720"/>
          </a:xfrm>
        </p:spPr>
        <p:txBody>
          <a:bodyPr>
            <a:normAutofit/>
          </a:bodyPr>
          <a:lstStyle/>
          <a:p>
            <a:r>
              <a:rPr lang="de-DE" b="1">
                <a:solidFill>
                  <a:schemeClr val="tx1">
                    <a:lumMod val="85000"/>
                    <a:lumOff val="15000"/>
                  </a:schemeClr>
                </a:solidFill>
              </a:rPr>
              <a:t>Ziele dieser Arbeit</a:t>
            </a:r>
            <a:endParaRPr lang="de-DE">
              <a:solidFill>
                <a:schemeClr val="tx1">
                  <a:lumMod val="85000"/>
                  <a:lumOff val="15000"/>
                </a:schemeClr>
              </a:solidFill>
            </a:endParaRPr>
          </a:p>
        </p:txBody>
      </p:sp>
      <p:sp>
        <p:nvSpPr>
          <p:cNvPr id="3" name="Inhaltsplatzhalter 2">
            <a:extLst>
              <a:ext uri="{FF2B5EF4-FFF2-40B4-BE49-F238E27FC236}">
                <a16:creationId xmlns:a16="http://schemas.microsoft.com/office/drawing/2014/main" id="{906DC276-FE81-2FAB-152F-8429F1672702}"/>
              </a:ext>
            </a:extLst>
          </p:cNvPr>
          <p:cNvSpPr>
            <a:spLocks noGrp="1"/>
          </p:cNvSpPr>
          <p:nvPr>
            <p:ph idx="1"/>
          </p:nvPr>
        </p:nvSpPr>
        <p:spPr>
          <a:xfrm>
            <a:off x="1957987" y="2431767"/>
            <a:ext cx="8276026" cy="3685156"/>
          </a:xfrm>
        </p:spPr>
        <p:txBody>
          <a:bodyPr anchor="ctr">
            <a:normAutofit/>
          </a:bodyPr>
          <a:lstStyle/>
          <a:p>
            <a:r>
              <a:rPr lang="de-DE" sz="2000" b="1">
                <a:solidFill>
                  <a:schemeClr val="tx1">
                    <a:lumMod val="85000"/>
                    <a:lumOff val="15000"/>
                  </a:schemeClr>
                </a:solidFill>
              </a:rPr>
              <a:t>Absolute Threshold Labeling:</a:t>
            </a:r>
            <a:r>
              <a:rPr lang="de-DE" sz="2000">
                <a:solidFill>
                  <a:schemeClr val="tx1">
                    <a:lumMod val="85000"/>
                    <a:lumOff val="15000"/>
                  </a:schemeClr>
                </a:solidFill>
              </a:rPr>
              <a:t> Physikalisch interpretierbare, globale Schwellenwerte statt sessionabhängiger Perzentile</a:t>
            </a:r>
          </a:p>
          <a:p>
            <a:r>
              <a:rPr lang="de-DE" sz="2000" b="1">
                <a:solidFill>
                  <a:schemeClr val="tx1">
                    <a:lumMod val="85000"/>
                    <a:lumOff val="15000"/>
                  </a:schemeClr>
                </a:solidFill>
              </a:rPr>
              <a:t>Temporal Persistence:</a:t>
            </a:r>
            <a:r>
              <a:rPr lang="de-DE" sz="2000">
                <a:solidFill>
                  <a:schemeClr val="tx1">
                    <a:lumMod val="85000"/>
                    <a:lumOff val="15000"/>
                  </a:schemeClr>
                </a:solidFill>
              </a:rPr>
              <a:t> Event-Glättung zur Vermeidung von Label-Flackern</a:t>
            </a:r>
          </a:p>
          <a:p>
            <a:r>
              <a:rPr lang="de-DE" sz="2000" b="1">
                <a:solidFill>
                  <a:schemeClr val="tx1">
                    <a:lumMod val="85000"/>
                    <a:lumOff val="15000"/>
                  </a:schemeClr>
                </a:solidFill>
              </a:rPr>
              <a:t>Multimodale Feature-Fusion:</a:t>
            </a:r>
            <a:r>
              <a:rPr lang="de-DE" sz="2000">
                <a:solidFill>
                  <a:schemeClr val="tx1">
                    <a:lumMod val="85000"/>
                    <a:lumOff val="15000"/>
                  </a:schemeClr>
                </a:solidFill>
              </a:rPr>
              <a:t> 37 Features aus Fahrzeugdynamik, Blickverhalten und Physiologie</a:t>
            </a:r>
          </a:p>
          <a:p>
            <a:r>
              <a:rPr lang="de-DE" sz="2000" b="1">
                <a:solidFill>
                  <a:schemeClr val="tx1">
                    <a:lumMod val="85000"/>
                    <a:lumOff val="15000"/>
                  </a:schemeClr>
                </a:solidFill>
              </a:rPr>
              <a:t>End-to-End Pipeline:</a:t>
            </a:r>
            <a:r>
              <a:rPr lang="de-DE" sz="2000">
                <a:solidFill>
                  <a:schemeClr val="tx1">
                    <a:lumMod val="85000"/>
                    <a:lumOff val="15000"/>
                  </a:schemeClr>
                </a:solidFill>
              </a:rPr>
              <a:t> Von Rohdaten zur Zustandsvorhersage mit über 5 Millionen Trainingssamples</a:t>
            </a:r>
          </a:p>
          <a:p>
            <a:pPr marL="0" indent="0">
              <a:buNone/>
            </a:pPr>
            <a:endParaRPr lang="de-DE" sz="2000">
              <a:solidFill>
                <a:schemeClr val="tx1">
                  <a:lumMod val="85000"/>
                  <a:lumOff val="15000"/>
                </a:schemeClr>
              </a:solidFill>
            </a:endParaRPr>
          </a:p>
        </p:txBody>
      </p:sp>
      <p:sp>
        <p:nvSpPr>
          <p:cNvPr id="4" name="Foliennummernplatzhalter 3">
            <a:extLst>
              <a:ext uri="{FF2B5EF4-FFF2-40B4-BE49-F238E27FC236}">
                <a16:creationId xmlns:a16="http://schemas.microsoft.com/office/drawing/2014/main" id="{D2FFE46C-8CB9-0C3B-77A2-602503393C51}"/>
              </a:ext>
            </a:extLst>
          </p:cNvPr>
          <p:cNvSpPr>
            <a:spLocks noGrp="1"/>
          </p:cNvSpPr>
          <p:nvPr>
            <p:ph type="sldNum" sz="quarter" idx="12"/>
          </p:nvPr>
        </p:nvSpPr>
        <p:spPr/>
        <p:txBody>
          <a:bodyPr/>
          <a:lstStyle/>
          <a:p>
            <a:fld id="{C1E9208F-C39B-4C02-96DE-7FDA3955F0A6}" type="slidenum">
              <a:rPr lang="de-DE" smtClean="0"/>
              <a:t>3</a:t>
            </a:fld>
            <a:endParaRPr lang="de-DE"/>
          </a:p>
        </p:txBody>
      </p:sp>
    </p:spTree>
    <p:extLst>
      <p:ext uri="{BB962C8B-B14F-4D97-AF65-F5344CB8AC3E}">
        <p14:creationId xmlns:p14="http://schemas.microsoft.com/office/powerpoint/2010/main" val="2453844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C39E54FE-7C52-475B-4DE3-261943EF1596}"/>
              </a:ext>
            </a:extLst>
          </p:cNvPr>
          <p:cNvSpPr>
            <a:spLocks noGrp="1"/>
          </p:cNvSpPr>
          <p:nvPr>
            <p:ph type="title"/>
          </p:nvPr>
        </p:nvSpPr>
        <p:spPr>
          <a:xfrm>
            <a:off x="1137036" y="548640"/>
            <a:ext cx="9916632" cy="1188720"/>
          </a:xfrm>
        </p:spPr>
        <p:txBody>
          <a:bodyPr>
            <a:normAutofit/>
          </a:bodyPr>
          <a:lstStyle/>
          <a:p>
            <a:r>
              <a:rPr lang="de-DE" b="1" dirty="0">
                <a:solidFill>
                  <a:schemeClr val="tx1">
                    <a:lumMod val="85000"/>
                    <a:lumOff val="15000"/>
                  </a:schemeClr>
                </a:solidFill>
              </a:rPr>
              <a:t>Datenerfassung &amp; Modalitäten</a:t>
            </a:r>
            <a:endParaRPr lang="de-DE" dirty="0">
              <a:solidFill>
                <a:schemeClr val="tx1">
                  <a:lumMod val="85000"/>
                  <a:lumOff val="15000"/>
                </a:schemeClr>
              </a:solidFill>
            </a:endParaRPr>
          </a:p>
        </p:txBody>
      </p:sp>
      <p:sp>
        <p:nvSpPr>
          <p:cNvPr id="3" name="Inhaltsplatzhalter 2">
            <a:extLst>
              <a:ext uri="{FF2B5EF4-FFF2-40B4-BE49-F238E27FC236}">
                <a16:creationId xmlns:a16="http://schemas.microsoft.com/office/drawing/2014/main" id="{09324107-C14E-2A44-C2CF-E0008AF89AF6}"/>
              </a:ext>
            </a:extLst>
          </p:cNvPr>
          <p:cNvSpPr>
            <a:spLocks noGrp="1"/>
          </p:cNvSpPr>
          <p:nvPr>
            <p:ph idx="1"/>
          </p:nvPr>
        </p:nvSpPr>
        <p:spPr>
          <a:xfrm>
            <a:off x="1957987" y="2431767"/>
            <a:ext cx="8276026" cy="3685156"/>
          </a:xfrm>
        </p:spPr>
        <p:txBody>
          <a:bodyPr anchor="ctr">
            <a:normAutofit/>
          </a:bodyPr>
          <a:lstStyle/>
          <a:p>
            <a:pPr marL="0" indent="0">
              <a:buNone/>
            </a:pPr>
            <a:r>
              <a:rPr lang="de-DE" sz="2400" b="1" dirty="0">
                <a:solidFill>
                  <a:schemeClr val="tx1">
                    <a:lumMod val="85000"/>
                    <a:lumOff val="15000"/>
                  </a:schemeClr>
                </a:solidFill>
              </a:rPr>
              <a:t>Fahrzeugdynamik</a:t>
            </a:r>
          </a:p>
          <a:p>
            <a:r>
              <a:rPr lang="de-DE" sz="2400" dirty="0">
                <a:solidFill>
                  <a:schemeClr val="tx1">
                    <a:lumMod val="85000"/>
                    <a:lumOff val="15000"/>
                  </a:schemeClr>
                </a:solidFill>
              </a:rPr>
              <a:t>Geschwindigkeit, Beschleunigung, </a:t>
            </a:r>
            <a:r>
              <a:rPr lang="de-DE" sz="2400" dirty="0" err="1">
                <a:solidFill>
                  <a:schemeClr val="tx1">
                    <a:lumMod val="85000"/>
                    <a:lumOff val="15000"/>
                  </a:schemeClr>
                </a:solidFill>
              </a:rPr>
              <a:t>Jerk</a:t>
            </a:r>
            <a:r>
              <a:rPr lang="de-DE" sz="2400" dirty="0">
                <a:solidFill>
                  <a:schemeClr val="tx1">
                    <a:lumMod val="85000"/>
                    <a:lumOff val="15000"/>
                  </a:schemeClr>
                </a:solidFill>
              </a:rPr>
              <a:t>, Lenkwinkel, </a:t>
            </a:r>
            <a:r>
              <a:rPr lang="de-DE" sz="2400" dirty="0" err="1">
                <a:solidFill>
                  <a:schemeClr val="tx1">
                    <a:lumMod val="85000"/>
                    <a:lumOff val="15000"/>
                  </a:schemeClr>
                </a:solidFill>
              </a:rPr>
              <a:t>Gierrate</a:t>
            </a:r>
            <a:r>
              <a:rPr lang="de-DE" sz="2400" dirty="0">
                <a:solidFill>
                  <a:schemeClr val="tx1">
                    <a:lumMod val="85000"/>
                    <a:lumOff val="15000"/>
                  </a:schemeClr>
                </a:solidFill>
              </a:rPr>
              <a:t>, Spurposition</a:t>
            </a:r>
          </a:p>
          <a:p>
            <a:pPr marL="0" indent="0">
              <a:buNone/>
            </a:pPr>
            <a:r>
              <a:rPr lang="de-DE" sz="2400" b="1" dirty="0">
                <a:solidFill>
                  <a:schemeClr val="tx1">
                    <a:lumMod val="85000"/>
                    <a:lumOff val="15000"/>
                  </a:schemeClr>
                </a:solidFill>
              </a:rPr>
              <a:t>Eye-Tracking</a:t>
            </a:r>
          </a:p>
          <a:p>
            <a:r>
              <a:rPr lang="de-DE" sz="2400" dirty="0">
                <a:solidFill>
                  <a:schemeClr val="tx1">
                    <a:lumMod val="85000"/>
                    <a:lumOff val="15000"/>
                  </a:schemeClr>
                </a:solidFill>
              </a:rPr>
              <a:t>Blickrichtung (</a:t>
            </a:r>
            <a:r>
              <a:rPr lang="de-DE" sz="2400" dirty="0" err="1">
                <a:solidFill>
                  <a:schemeClr val="tx1">
                    <a:lumMod val="85000"/>
                    <a:lumOff val="15000"/>
                  </a:schemeClr>
                </a:solidFill>
              </a:rPr>
              <a:t>Varjo</a:t>
            </a:r>
            <a:r>
              <a:rPr lang="de-DE" sz="2400" dirty="0">
                <a:solidFill>
                  <a:schemeClr val="tx1">
                    <a:lumMod val="85000"/>
                    <a:lumOff val="15000"/>
                  </a:schemeClr>
                </a:solidFill>
              </a:rPr>
              <a:t> XR), </a:t>
            </a:r>
            <a:r>
              <a:rPr lang="de-DE" sz="2400" dirty="0" err="1">
                <a:solidFill>
                  <a:schemeClr val="tx1">
                    <a:lumMod val="85000"/>
                    <a:lumOff val="15000"/>
                  </a:schemeClr>
                </a:solidFill>
              </a:rPr>
              <a:t>Augenlidentöffnung</a:t>
            </a:r>
            <a:r>
              <a:rPr lang="de-DE" sz="2400" dirty="0">
                <a:solidFill>
                  <a:schemeClr val="tx1">
                    <a:lumMod val="85000"/>
                    <a:lumOff val="15000"/>
                  </a:schemeClr>
                </a:solidFill>
              </a:rPr>
              <a:t>, Off-Road-Ratio</a:t>
            </a:r>
          </a:p>
          <a:p>
            <a:pPr marL="0" indent="0">
              <a:buNone/>
            </a:pPr>
            <a:r>
              <a:rPr lang="de-DE" sz="2400" b="1" dirty="0">
                <a:solidFill>
                  <a:schemeClr val="tx1">
                    <a:lumMod val="85000"/>
                    <a:lumOff val="15000"/>
                  </a:schemeClr>
                </a:solidFill>
              </a:rPr>
              <a:t>Physiologie</a:t>
            </a:r>
          </a:p>
          <a:p>
            <a:r>
              <a:rPr lang="de-DE" sz="2400" dirty="0">
                <a:solidFill>
                  <a:schemeClr val="tx1">
                    <a:lumMod val="85000"/>
                    <a:lumOff val="15000"/>
                  </a:schemeClr>
                </a:solidFill>
              </a:rPr>
              <a:t>Herzrate, RR-Intervalle, HRV (SDNN, RMSSD)</a:t>
            </a:r>
          </a:p>
          <a:p>
            <a:pPr marL="0" indent="0">
              <a:buNone/>
            </a:pPr>
            <a:endParaRPr lang="de-DE" sz="2000" dirty="0">
              <a:solidFill>
                <a:schemeClr val="tx1">
                  <a:lumMod val="85000"/>
                  <a:lumOff val="15000"/>
                </a:schemeClr>
              </a:solidFill>
            </a:endParaRPr>
          </a:p>
        </p:txBody>
      </p:sp>
      <p:sp>
        <p:nvSpPr>
          <p:cNvPr id="4" name="Foliennummernplatzhalter 3">
            <a:extLst>
              <a:ext uri="{FF2B5EF4-FFF2-40B4-BE49-F238E27FC236}">
                <a16:creationId xmlns:a16="http://schemas.microsoft.com/office/drawing/2014/main" id="{AA6057B9-D9EB-63A8-583A-1C297E2917EE}"/>
              </a:ext>
            </a:extLst>
          </p:cNvPr>
          <p:cNvSpPr>
            <a:spLocks noGrp="1"/>
          </p:cNvSpPr>
          <p:nvPr>
            <p:ph type="sldNum" sz="quarter" idx="12"/>
          </p:nvPr>
        </p:nvSpPr>
        <p:spPr/>
        <p:txBody>
          <a:bodyPr/>
          <a:lstStyle/>
          <a:p>
            <a:fld id="{C1E9208F-C39B-4C02-96DE-7FDA3955F0A6}" type="slidenum">
              <a:rPr lang="de-DE" smtClean="0"/>
              <a:t>4</a:t>
            </a:fld>
            <a:endParaRPr lang="de-DE"/>
          </a:p>
        </p:txBody>
      </p:sp>
    </p:spTree>
    <p:extLst>
      <p:ext uri="{BB962C8B-B14F-4D97-AF65-F5344CB8AC3E}">
        <p14:creationId xmlns:p14="http://schemas.microsoft.com/office/powerpoint/2010/main" val="3405707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el 1">
            <a:extLst>
              <a:ext uri="{FF2B5EF4-FFF2-40B4-BE49-F238E27FC236}">
                <a16:creationId xmlns:a16="http://schemas.microsoft.com/office/drawing/2014/main" id="{ED5D9F01-D327-52D8-1935-B40DCC11B338}"/>
              </a:ext>
            </a:extLst>
          </p:cNvPr>
          <p:cNvSpPr>
            <a:spLocks noGrp="1"/>
          </p:cNvSpPr>
          <p:nvPr>
            <p:ph type="title"/>
          </p:nvPr>
        </p:nvSpPr>
        <p:spPr>
          <a:xfrm>
            <a:off x="1246824" y="643467"/>
            <a:ext cx="4772975" cy="1800526"/>
          </a:xfrm>
        </p:spPr>
        <p:txBody>
          <a:bodyPr>
            <a:normAutofit/>
          </a:bodyPr>
          <a:lstStyle/>
          <a:p>
            <a:r>
              <a:rPr lang="de-DE" sz="4100" b="1"/>
              <a:t>Feature Engineering: 37 Features</a:t>
            </a:r>
            <a:endParaRPr lang="de-DE" sz="4100"/>
          </a:p>
        </p:txBody>
      </p:sp>
      <p:sp>
        <p:nvSpPr>
          <p:cNvPr id="3" name="Inhaltsplatzhalter 2">
            <a:extLst>
              <a:ext uri="{FF2B5EF4-FFF2-40B4-BE49-F238E27FC236}">
                <a16:creationId xmlns:a16="http://schemas.microsoft.com/office/drawing/2014/main" id="{8C319CF7-255C-8478-7113-1770AF8B597C}"/>
              </a:ext>
            </a:extLst>
          </p:cNvPr>
          <p:cNvSpPr>
            <a:spLocks noGrp="1"/>
          </p:cNvSpPr>
          <p:nvPr>
            <p:ph idx="1"/>
          </p:nvPr>
        </p:nvSpPr>
        <p:spPr>
          <a:xfrm>
            <a:off x="1246824" y="2623381"/>
            <a:ext cx="4772974" cy="3553581"/>
          </a:xfrm>
        </p:spPr>
        <p:txBody>
          <a:bodyPr>
            <a:normAutofit/>
          </a:bodyPr>
          <a:lstStyle/>
          <a:p>
            <a:pPr marL="0" indent="0">
              <a:buNone/>
            </a:pPr>
            <a:r>
              <a:rPr lang="de-DE" sz="1400" b="1"/>
              <a:t>Aggressive Driving (16)</a:t>
            </a:r>
          </a:p>
          <a:p>
            <a:r>
              <a:rPr lang="de-DE" sz="1400"/>
              <a:t>Beschleunigungsvariabilität</a:t>
            </a:r>
          </a:p>
          <a:p>
            <a:r>
              <a:rPr lang="de-DE" sz="1400"/>
              <a:t>Jerk (Ruckartigkeit)</a:t>
            </a:r>
          </a:p>
          <a:p>
            <a:r>
              <a:rPr lang="de-DE" sz="1400"/>
              <a:t>Lenkgeschwindigkeit</a:t>
            </a:r>
          </a:p>
          <a:p>
            <a:r>
              <a:rPr lang="de-DE" sz="1400"/>
              <a:t>Bremsfrequenz</a:t>
            </a:r>
          </a:p>
          <a:p>
            <a:r>
              <a:rPr lang="de-DE" sz="1400"/>
              <a:t>Headway-Verhältnisse</a:t>
            </a:r>
          </a:p>
          <a:p>
            <a:pPr marL="0" indent="0">
              <a:buNone/>
            </a:pPr>
            <a:r>
              <a:rPr lang="de-DE" sz="1400" b="1"/>
              <a:t>Inattentive (12)</a:t>
            </a:r>
          </a:p>
          <a:p>
            <a:r>
              <a:rPr lang="de-DE" sz="1400"/>
              <a:t>Spurabweichung (Lateral Std)</a:t>
            </a:r>
          </a:p>
          <a:p>
            <a:r>
              <a:rPr lang="de-DE" sz="1400"/>
              <a:t>Off-Road Gaze-Ratio</a:t>
            </a:r>
          </a:p>
          <a:p>
            <a:r>
              <a:rPr lang="de-DE" sz="1400"/>
              <a:t>NDRT Performance</a:t>
            </a:r>
          </a:p>
          <a:p>
            <a:r>
              <a:rPr lang="de-DE" sz="1400"/>
              <a:t>Augenlidentöffnung</a:t>
            </a:r>
          </a:p>
          <a:p>
            <a:pPr marL="0" indent="0">
              <a:buNone/>
            </a:pPr>
            <a:endParaRPr lang="de-DE" sz="1400"/>
          </a:p>
        </p:txBody>
      </p:sp>
      <p:pic>
        <p:nvPicPr>
          <p:cNvPr id="11" name="Grafik 10" descr="Ein Bild, das Text, Screenshot, Schrift, Dokument enthält.&#10;&#10;KI-generierte Inhalte können fehlerhaft sein.">
            <a:extLst>
              <a:ext uri="{FF2B5EF4-FFF2-40B4-BE49-F238E27FC236}">
                <a16:creationId xmlns:a16="http://schemas.microsoft.com/office/drawing/2014/main" id="{7B68FD87-274A-CC02-E961-DA1485C5E820}"/>
              </a:ext>
            </a:extLst>
          </p:cNvPr>
          <p:cNvPicPr>
            <a:picLocks noChangeAspect="1"/>
          </p:cNvPicPr>
          <p:nvPr/>
        </p:nvPicPr>
        <p:blipFill>
          <a:blip r:embed="rId3"/>
          <a:stretch>
            <a:fillRect/>
          </a:stretch>
        </p:blipFill>
        <p:spPr>
          <a:xfrm>
            <a:off x="7782473" y="3298021"/>
            <a:ext cx="3688413" cy="2545005"/>
          </a:xfrm>
          <a:prstGeom prst="rect">
            <a:avLst/>
          </a:prstGeom>
        </p:spPr>
      </p:pic>
      <p:pic>
        <p:nvPicPr>
          <p:cNvPr id="7" name="Grafik 6" descr="Ein Bild, das Text, Screenshot, Schrift, Zahl enthält.&#10;&#10;KI-generierte Inhalte können fehlerhaft sein.">
            <a:extLst>
              <a:ext uri="{FF2B5EF4-FFF2-40B4-BE49-F238E27FC236}">
                <a16:creationId xmlns:a16="http://schemas.microsoft.com/office/drawing/2014/main" id="{D5969224-3A33-523E-58ED-6563E1840D55}"/>
              </a:ext>
            </a:extLst>
          </p:cNvPr>
          <p:cNvPicPr>
            <a:picLocks noChangeAspect="1"/>
          </p:cNvPicPr>
          <p:nvPr/>
        </p:nvPicPr>
        <p:blipFill>
          <a:blip r:embed="rId4"/>
          <a:stretch>
            <a:fillRect/>
          </a:stretch>
        </p:blipFill>
        <p:spPr>
          <a:xfrm>
            <a:off x="7782473" y="132076"/>
            <a:ext cx="3872715" cy="3165945"/>
          </a:xfrm>
          <a:prstGeom prst="rect">
            <a:avLst/>
          </a:prstGeom>
        </p:spPr>
      </p:pic>
      <p:pic>
        <p:nvPicPr>
          <p:cNvPr id="14" name="Grafik 13" descr="Ein Bild, das Text, Schrift, Screenshot, Reihe enthält.&#10;&#10;KI-generierte Inhalte können fehlerhaft sein.">
            <a:extLst>
              <a:ext uri="{FF2B5EF4-FFF2-40B4-BE49-F238E27FC236}">
                <a16:creationId xmlns:a16="http://schemas.microsoft.com/office/drawing/2014/main" id="{D322D401-AB71-53D7-DA82-7C1EEF8285B5}"/>
              </a:ext>
            </a:extLst>
          </p:cNvPr>
          <p:cNvPicPr>
            <a:picLocks noChangeAspect="1"/>
          </p:cNvPicPr>
          <p:nvPr/>
        </p:nvPicPr>
        <p:blipFill>
          <a:blip r:embed="rId5"/>
          <a:stretch>
            <a:fillRect/>
          </a:stretch>
        </p:blipFill>
        <p:spPr>
          <a:xfrm>
            <a:off x="7782473" y="5897489"/>
            <a:ext cx="3568561" cy="540966"/>
          </a:xfrm>
          <a:prstGeom prst="rect">
            <a:avLst/>
          </a:prstGeom>
        </p:spPr>
      </p:pic>
      <p:sp>
        <p:nvSpPr>
          <p:cNvPr id="4" name="Foliennummernplatzhalter 3">
            <a:extLst>
              <a:ext uri="{FF2B5EF4-FFF2-40B4-BE49-F238E27FC236}">
                <a16:creationId xmlns:a16="http://schemas.microsoft.com/office/drawing/2014/main" id="{12D2A9F6-D471-678F-3E86-5921CE1F3A4F}"/>
              </a:ext>
            </a:extLst>
          </p:cNvPr>
          <p:cNvSpPr>
            <a:spLocks noGrp="1"/>
          </p:cNvSpPr>
          <p:nvPr>
            <p:ph type="sldNum" sz="quarter" idx="12"/>
          </p:nvPr>
        </p:nvSpPr>
        <p:spPr/>
        <p:txBody>
          <a:bodyPr/>
          <a:lstStyle/>
          <a:p>
            <a:fld id="{C1E9208F-C39B-4C02-96DE-7FDA3955F0A6}" type="slidenum">
              <a:rPr lang="de-DE" smtClean="0"/>
              <a:t>5</a:t>
            </a:fld>
            <a:endParaRPr lang="de-DE"/>
          </a:p>
        </p:txBody>
      </p:sp>
    </p:spTree>
    <p:extLst>
      <p:ext uri="{BB962C8B-B14F-4D97-AF65-F5344CB8AC3E}">
        <p14:creationId xmlns:p14="http://schemas.microsoft.com/office/powerpoint/2010/main" val="1332270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4D6D4414-C030-656C-4737-E585DDD4526F}"/>
              </a:ext>
            </a:extLst>
          </p:cNvPr>
          <p:cNvSpPr>
            <a:spLocks noGrp="1"/>
          </p:cNvSpPr>
          <p:nvPr>
            <p:ph type="title"/>
          </p:nvPr>
        </p:nvSpPr>
        <p:spPr>
          <a:xfrm>
            <a:off x="1137034" y="609597"/>
            <a:ext cx="9392421" cy="1330841"/>
          </a:xfrm>
        </p:spPr>
        <p:txBody>
          <a:bodyPr>
            <a:normAutofit/>
          </a:bodyPr>
          <a:lstStyle/>
          <a:p>
            <a:r>
              <a:rPr lang="de-DE" b="1"/>
              <a:t>Label-Generierung: Absolute Threshold Labeling</a:t>
            </a:r>
            <a:endParaRPr lang="de-DE"/>
          </a:p>
        </p:txBody>
      </p:sp>
      <p:sp>
        <p:nvSpPr>
          <p:cNvPr id="3" name="Inhaltsplatzhalter 2">
            <a:extLst>
              <a:ext uri="{FF2B5EF4-FFF2-40B4-BE49-F238E27FC236}">
                <a16:creationId xmlns:a16="http://schemas.microsoft.com/office/drawing/2014/main" id="{CE84B252-6259-12AC-454F-1A92F9B900FA}"/>
              </a:ext>
            </a:extLst>
          </p:cNvPr>
          <p:cNvSpPr>
            <a:spLocks noGrp="1"/>
          </p:cNvSpPr>
          <p:nvPr>
            <p:ph idx="1"/>
          </p:nvPr>
        </p:nvSpPr>
        <p:spPr>
          <a:xfrm>
            <a:off x="311150" y="2211205"/>
            <a:ext cx="8086274" cy="3917773"/>
          </a:xfrm>
        </p:spPr>
        <p:txBody>
          <a:bodyPr>
            <a:normAutofit/>
          </a:bodyPr>
          <a:lstStyle/>
          <a:p>
            <a:pPr marL="0" indent="0">
              <a:buNone/>
            </a:pPr>
            <a:r>
              <a:rPr lang="de-DE" sz="2000" dirty="0"/>
              <a:t>Wir vermeiden zirkuläre Logik durch interpretierbare, globale Schwellenwerte:</a:t>
            </a:r>
          </a:p>
          <a:p>
            <a:r>
              <a:rPr lang="de-DE" sz="2000" b="1" dirty="0"/>
              <a:t>Phase 1:</a:t>
            </a:r>
            <a:r>
              <a:rPr lang="de-DE" sz="2000" dirty="0"/>
              <a:t> Data-Driven </a:t>
            </a:r>
            <a:r>
              <a:rPr lang="de-DE" sz="2000" dirty="0" err="1"/>
              <a:t>Thresholds</a:t>
            </a:r>
            <a:r>
              <a:rPr lang="de-DE" sz="2000" dirty="0"/>
              <a:t> aus Perzentilen der Datenverteilung</a:t>
            </a:r>
          </a:p>
          <a:p>
            <a:r>
              <a:rPr lang="de-DE" sz="2000" b="1" dirty="0"/>
              <a:t>Phase 2:</a:t>
            </a:r>
            <a:r>
              <a:rPr lang="de-DE" sz="2000" dirty="0"/>
              <a:t> Kritische Events (Blick &gt; 30° von Fahrbahn, </a:t>
            </a:r>
            <a:r>
              <a:rPr lang="de-DE" sz="2000" dirty="0" err="1"/>
              <a:t>Jerk</a:t>
            </a:r>
            <a:r>
              <a:rPr lang="de-DE" sz="2000" dirty="0"/>
              <a:t> &gt; Schwelle)</a:t>
            </a:r>
          </a:p>
          <a:p>
            <a:r>
              <a:rPr lang="de-DE" sz="2000" b="1" dirty="0"/>
              <a:t>Phase 3:</a:t>
            </a:r>
            <a:r>
              <a:rPr lang="de-DE" sz="2000" dirty="0"/>
              <a:t> Akkumulatives Scoring – mehrere schwache Indikatoren = Zustand</a:t>
            </a:r>
          </a:p>
          <a:p>
            <a:r>
              <a:rPr lang="de-DE" sz="2000" b="1" dirty="0"/>
              <a:t>Phase 4:</a:t>
            </a:r>
            <a:r>
              <a:rPr lang="de-DE" sz="2000" dirty="0"/>
              <a:t> Temporal </a:t>
            </a:r>
            <a:r>
              <a:rPr lang="de-DE" sz="2000" dirty="0" err="1"/>
              <a:t>Persistence</a:t>
            </a:r>
            <a:r>
              <a:rPr lang="de-DE" sz="2000" dirty="0"/>
              <a:t> (</a:t>
            </a:r>
            <a:r>
              <a:rPr lang="de-DE" sz="2000" dirty="0" err="1"/>
              <a:t>z.B</a:t>
            </a:r>
            <a:r>
              <a:rPr lang="de-DE" sz="2000" dirty="0"/>
              <a:t> 2s Fenster) um Spikes zu glätten</a:t>
            </a:r>
          </a:p>
          <a:p>
            <a:pPr marL="0" indent="0">
              <a:buNone/>
            </a:pPr>
            <a:endParaRPr lang="de-DE" sz="2000" dirty="0"/>
          </a:p>
        </p:txBody>
      </p:sp>
      <p:pic>
        <p:nvPicPr>
          <p:cNvPr id="11" name="Grafik 10" descr="Ein Bild, das Text, Screenshot, Computer, Display enthält.&#10;&#10;KI-generierte Inhalte können fehlerhaft sein.">
            <a:extLst>
              <a:ext uri="{FF2B5EF4-FFF2-40B4-BE49-F238E27FC236}">
                <a16:creationId xmlns:a16="http://schemas.microsoft.com/office/drawing/2014/main" id="{E9295124-D7A0-9AD3-2144-FB5C554AB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0834" y="729022"/>
            <a:ext cx="3698969" cy="5399956"/>
          </a:xfrm>
          <a:prstGeom prst="rect">
            <a:avLst/>
          </a:prstGeom>
        </p:spPr>
      </p:pic>
      <p:sp>
        <p:nvSpPr>
          <p:cNvPr id="21" name="Freeform: Shape 2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liennummernplatzhalter 3">
            <a:extLst>
              <a:ext uri="{FF2B5EF4-FFF2-40B4-BE49-F238E27FC236}">
                <a16:creationId xmlns:a16="http://schemas.microsoft.com/office/drawing/2014/main" id="{FD894896-F4AE-9E64-8E1A-907AE53A9D83}"/>
              </a:ext>
            </a:extLst>
          </p:cNvPr>
          <p:cNvSpPr>
            <a:spLocks noGrp="1"/>
          </p:cNvSpPr>
          <p:nvPr>
            <p:ph type="sldNum" sz="quarter" idx="12"/>
          </p:nvPr>
        </p:nvSpPr>
        <p:spPr/>
        <p:txBody>
          <a:bodyPr/>
          <a:lstStyle/>
          <a:p>
            <a:fld id="{C1E9208F-C39B-4C02-96DE-7FDA3955F0A6}" type="slidenum">
              <a:rPr lang="de-DE" smtClean="0"/>
              <a:t>6</a:t>
            </a:fld>
            <a:endParaRPr lang="de-DE"/>
          </a:p>
        </p:txBody>
      </p:sp>
    </p:spTree>
    <p:extLst>
      <p:ext uri="{BB962C8B-B14F-4D97-AF65-F5344CB8AC3E}">
        <p14:creationId xmlns:p14="http://schemas.microsoft.com/office/powerpoint/2010/main" val="3205125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5EA10BCE-864D-BE0F-94FD-01A162AC68E0}"/>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b="1" kern="1200" dirty="0">
                <a:solidFill>
                  <a:schemeClr val="tx1"/>
                </a:solidFill>
                <a:latin typeface="+mj-lt"/>
                <a:ea typeface="+mj-ea"/>
                <a:cs typeface="+mj-cs"/>
              </a:rPr>
              <a:t>Label </a:t>
            </a:r>
            <a:r>
              <a:rPr lang="en-US" sz="3600" b="1" kern="1200" dirty="0" err="1">
                <a:solidFill>
                  <a:schemeClr val="tx1"/>
                </a:solidFill>
                <a:latin typeface="+mj-lt"/>
                <a:ea typeface="+mj-ea"/>
                <a:cs typeface="+mj-cs"/>
              </a:rPr>
              <a:t>Verteilung</a:t>
            </a:r>
            <a:endParaRPr lang="en-US" sz="3600" b="1" kern="1200" dirty="0">
              <a:solidFill>
                <a:schemeClr val="tx1"/>
              </a:solidFill>
              <a:latin typeface="+mj-lt"/>
              <a:ea typeface="+mj-ea"/>
              <a:cs typeface="+mj-cs"/>
            </a:endParaRPr>
          </a:p>
        </p:txBody>
      </p:sp>
      <p:pic>
        <p:nvPicPr>
          <p:cNvPr id="5" name="Inhaltsplatzhalter 4" descr="Ein Bild, das Text, Diagramm, Screenshot, Farbigkeit enthält.&#10;&#10;KI-generierte Inhalte können fehlerhaft sein.">
            <a:extLst>
              <a:ext uri="{FF2B5EF4-FFF2-40B4-BE49-F238E27FC236}">
                <a16:creationId xmlns:a16="http://schemas.microsoft.com/office/drawing/2014/main" id="{F355BC8C-5C94-476E-9037-12058326E9E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4888" y="2354239"/>
            <a:ext cx="8922224" cy="3948085"/>
          </a:xfrm>
          <a:prstGeom prst="rect">
            <a:avLst/>
          </a:prstGeom>
        </p:spPr>
      </p:pic>
      <p:sp>
        <p:nvSpPr>
          <p:cNvPr id="3" name="Foliennummernplatzhalter 2">
            <a:extLst>
              <a:ext uri="{FF2B5EF4-FFF2-40B4-BE49-F238E27FC236}">
                <a16:creationId xmlns:a16="http://schemas.microsoft.com/office/drawing/2014/main" id="{CE2BEF9A-5F45-F07E-8846-E05D7C9F5B8D}"/>
              </a:ext>
            </a:extLst>
          </p:cNvPr>
          <p:cNvSpPr>
            <a:spLocks noGrp="1"/>
          </p:cNvSpPr>
          <p:nvPr>
            <p:ph type="sldNum" sz="quarter" idx="12"/>
          </p:nvPr>
        </p:nvSpPr>
        <p:spPr/>
        <p:txBody>
          <a:bodyPr/>
          <a:lstStyle/>
          <a:p>
            <a:fld id="{C1E9208F-C39B-4C02-96DE-7FDA3955F0A6}" type="slidenum">
              <a:rPr lang="de-DE" smtClean="0"/>
              <a:t>7</a:t>
            </a:fld>
            <a:endParaRPr lang="de-DE"/>
          </a:p>
        </p:txBody>
      </p:sp>
    </p:spTree>
    <p:extLst>
      <p:ext uri="{BB962C8B-B14F-4D97-AF65-F5344CB8AC3E}">
        <p14:creationId xmlns:p14="http://schemas.microsoft.com/office/powerpoint/2010/main" val="3286903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05457A01-CEE8-1805-5B1F-73555949BBF9}"/>
              </a:ext>
            </a:extLst>
          </p:cNvPr>
          <p:cNvSpPr>
            <a:spLocks noGrp="1"/>
          </p:cNvSpPr>
          <p:nvPr>
            <p:ph type="title"/>
          </p:nvPr>
        </p:nvSpPr>
        <p:spPr>
          <a:xfrm>
            <a:off x="1137034" y="609597"/>
            <a:ext cx="9392421" cy="1330841"/>
          </a:xfrm>
        </p:spPr>
        <p:txBody>
          <a:bodyPr>
            <a:normAutofit/>
          </a:bodyPr>
          <a:lstStyle/>
          <a:p>
            <a:r>
              <a:rPr lang="de-DE" b="1" dirty="0"/>
              <a:t>Modellierung: Random Forest</a:t>
            </a:r>
            <a:endParaRPr lang="de-DE" dirty="0"/>
          </a:p>
        </p:txBody>
      </p:sp>
      <p:sp>
        <p:nvSpPr>
          <p:cNvPr id="3" name="Inhaltsplatzhalter 2">
            <a:extLst>
              <a:ext uri="{FF2B5EF4-FFF2-40B4-BE49-F238E27FC236}">
                <a16:creationId xmlns:a16="http://schemas.microsoft.com/office/drawing/2014/main" id="{B50A83D1-D894-9820-866A-C6D0AA3E5878}"/>
              </a:ext>
            </a:extLst>
          </p:cNvPr>
          <p:cNvSpPr>
            <a:spLocks noGrp="1"/>
          </p:cNvSpPr>
          <p:nvPr>
            <p:ph idx="1"/>
          </p:nvPr>
        </p:nvSpPr>
        <p:spPr>
          <a:xfrm>
            <a:off x="1137034" y="2198362"/>
            <a:ext cx="4958966" cy="3917773"/>
          </a:xfrm>
        </p:spPr>
        <p:txBody>
          <a:bodyPr>
            <a:normAutofit/>
          </a:bodyPr>
          <a:lstStyle/>
          <a:p>
            <a:pPr marL="0" indent="0">
              <a:buNone/>
            </a:pPr>
            <a:r>
              <a:rPr lang="de-DE" sz="1600" b="1"/>
              <a:t>Hyperparameter</a:t>
            </a:r>
          </a:p>
          <a:p>
            <a:r>
              <a:rPr lang="de-DE" sz="1600"/>
              <a:t>n_estimators: 200</a:t>
            </a:r>
          </a:p>
          <a:p>
            <a:r>
              <a:rPr lang="de-DE" sz="1600"/>
              <a:t>max_depth: 5</a:t>
            </a:r>
          </a:p>
          <a:p>
            <a:r>
              <a:rPr lang="de-DE" sz="1600"/>
              <a:t>min_samples_split: 30</a:t>
            </a:r>
          </a:p>
          <a:p>
            <a:r>
              <a:rPr lang="de-DE" sz="1600"/>
              <a:t>max_features: 'sqrt'</a:t>
            </a:r>
          </a:p>
          <a:p>
            <a:r>
              <a:rPr lang="de-DE" sz="1600"/>
              <a:t>class_weight: 'balanced'</a:t>
            </a:r>
          </a:p>
          <a:p>
            <a:pPr marL="0" indent="0">
              <a:buNone/>
            </a:pPr>
            <a:r>
              <a:rPr lang="de-DE" sz="1600" b="1"/>
              <a:t>Eigenschaften</a:t>
            </a:r>
          </a:p>
          <a:p>
            <a:r>
              <a:rPr lang="de-DE" sz="1600"/>
              <a:t>Interpretierbar</a:t>
            </a:r>
          </a:p>
          <a:p>
            <a:r>
              <a:rPr lang="de-DE" sz="1600"/>
              <a:t>Ensemble-Methode</a:t>
            </a:r>
          </a:p>
          <a:p>
            <a:r>
              <a:rPr lang="de-DE" sz="1600"/>
              <a:t>Robust gegen Overfitting</a:t>
            </a:r>
          </a:p>
          <a:p>
            <a:r>
              <a:rPr lang="de-DE" sz="1600"/>
              <a:t>Parallelisierbar für schnelleres Training</a:t>
            </a:r>
          </a:p>
          <a:p>
            <a:endParaRPr lang="de-DE" sz="1600"/>
          </a:p>
        </p:txBody>
      </p:sp>
      <p:pic>
        <p:nvPicPr>
          <p:cNvPr id="5" name="Grafik 4" descr="Ein Bild, das Text, Screenshot, Schrift enthält.&#10;&#10;KI-generierte Inhalte können fehlerhaft sein.">
            <a:extLst>
              <a:ext uri="{FF2B5EF4-FFF2-40B4-BE49-F238E27FC236}">
                <a16:creationId xmlns:a16="http://schemas.microsoft.com/office/drawing/2014/main" id="{4760A149-AA78-4071-E878-F79991431042}"/>
              </a:ext>
            </a:extLst>
          </p:cNvPr>
          <p:cNvPicPr>
            <a:picLocks noChangeAspect="1"/>
          </p:cNvPicPr>
          <p:nvPr/>
        </p:nvPicPr>
        <p:blipFill>
          <a:blip r:embed="rId3"/>
          <a:stretch>
            <a:fillRect/>
          </a:stretch>
        </p:blipFill>
        <p:spPr>
          <a:xfrm>
            <a:off x="6719367" y="2543272"/>
            <a:ext cx="4788505" cy="3039199"/>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liennummernplatzhalter 3">
            <a:extLst>
              <a:ext uri="{FF2B5EF4-FFF2-40B4-BE49-F238E27FC236}">
                <a16:creationId xmlns:a16="http://schemas.microsoft.com/office/drawing/2014/main" id="{EE78131D-0785-CB3F-C8CC-0602E551E01A}"/>
              </a:ext>
            </a:extLst>
          </p:cNvPr>
          <p:cNvSpPr>
            <a:spLocks noGrp="1"/>
          </p:cNvSpPr>
          <p:nvPr>
            <p:ph type="sldNum" sz="quarter" idx="12"/>
          </p:nvPr>
        </p:nvSpPr>
        <p:spPr/>
        <p:txBody>
          <a:bodyPr/>
          <a:lstStyle/>
          <a:p>
            <a:fld id="{C1E9208F-C39B-4C02-96DE-7FDA3955F0A6}" type="slidenum">
              <a:rPr lang="de-DE" smtClean="0"/>
              <a:t>8</a:t>
            </a:fld>
            <a:endParaRPr lang="de-DE"/>
          </a:p>
        </p:txBody>
      </p:sp>
    </p:spTree>
    <p:extLst>
      <p:ext uri="{BB962C8B-B14F-4D97-AF65-F5344CB8AC3E}">
        <p14:creationId xmlns:p14="http://schemas.microsoft.com/office/powerpoint/2010/main" val="1703670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947213EA-2F31-4946-B67A-983FECF7D807}"/>
              </a:ext>
            </a:extLst>
          </p:cNvPr>
          <p:cNvSpPr>
            <a:spLocks noGrp="1"/>
          </p:cNvSpPr>
          <p:nvPr>
            <p:ph type="title"/>
          </p:nvPr>
        </p:nvSpPr>
        <p:spPr>
          <a:xfrm>
            <a:off x="1137034" y="609597"/>
            <a:ext cx="9392421" cy="1330841"/>
          </a:xfrm>
        </p:spPr>
        <p:txBody>
          <a:bodyPr>
            <a:normAutofit/>
          </a:bodyPr>
          <a:lstStyle/>
          <a:p>
            <a:r>
              <a:rPr lang="de-DE" b="1" dirty="0"/>
              <a:t>Random Forest: Ergebnisse</a:t>
            </a:r>
            <a:endParaRPr lang="de-DE" dirty="0"/>
          </a:p>
        </p:txBody>
      </p:sp>
      <p:sp>
        <p:nvSpPr>
          <p:cNvPr id="3" name="Inhaltsplatzhalter 2">
            <a:extLst>
              <a:ext uri="{FF2B5EF4-FFF2-40B4-BE49-F238E27FC236}">
                <a16:creationId xmlns:a16="http://schemas.microsoft.com/office/drawing/2014/main" id="{1A4B205D-297A-3B89-B0D0-FC17047F08B5}"/>
              </a:ext>
            </a:extLst>
          </p:cNvPr>
          <p:cNvSpPr>
            <a:spLocks noGrp="1"/>
          </p:cNvSpPr>
          <p:nvPr>
            <p:ph idx="1"/>
          </p:nvPr>
        </p:nvSpPr>
        <p:spPr>
          <a:xfrm>
            <a:off x="754895" y="2184914"/>
            <a:ext cx="6492065" cy="3917773"/>
          </a:xfrm>
        </p:spPr>
        <p:txBody>
          <a:bodyPr>
            <a:normAutofit/>
          </a:bodyPr>
          <a:lstStyle/>
          <a:p>
            <a:pPr marL="0" indent="0">
              <a:buNone/>
            </a:pPr>
            <a:r>
              <a:rPr lang="de-DE" sz="2000" b="1" dirty="0"/>
              <a:t>Test </a:t>
            </a:r>
            <a:r>
              <a:rPr lang="de-DE" sz="2000" b="1" dirty="0" err="1"/>
              <a:t>Accuracy</a:t>
            </a:r>
            <a:r>
              <a:rPr lang="de-DE" sz="2000" b="1" dirty="0"/>
              <a:t> &amp; Metriken (Train/Test Split)</a:t>
            </a:r>
          </a:p>
          <a:p>
            <a:r>
              <a:rPr lang="de-DE" sz="2000" b="1" dirty="0"/>
              <a:t>Train </a:t>
            </a:r>
            <a:r>
              <a:rPr lang="de-DE" sz="2000" b="1" dirty="0" err="1"/>
              <a:t>Accuracy</a:t>
            </a:r>
            <a:r>
              <a:rPr lang="de-DE" sz="2000" b="1" dirty="0"/>
              <a:t>:</a:t>
            </a:r>
            <a:r>
              <a:rPr lang="de-DE" sz="2000" dirty="0"/>
              <a:t> 88.87% | </a:t>
            </a:r>
            <a:r>
              <a:rPr lang="de-DE" sz="2000" b="1" dirty="0"/>
              <a:t>Test </a:t>
            </a:r>
            <a:r>
              <a:rPr lang="de-DE" sz="2000" b="1" dirty="0" err="1"/>
              <a:t>Accuracy</a:t>
            </a:r>
            <a:r>
              <a:rPr lang="de-DE" sz="2000" b="1" dirty="0"/>
              <a:t>:</a:t>
            </a:r>
            <a:r>
              <a:rPr lang="de-DE" sz="2000" dirty="0"/>
              <a:t> 88.42%</a:t>
            </a:r>
          </a:p>
          <a:p>
            <a:r>
              <a:rPr lang="de-DE" sz="2000" dirty="0"/>
              <a:t> </a:t>
            </a:r>
            <a:r>
              <a:rPr lang="de-DE" sz="2000" b="1" dirty="0" err="1"/>
              <a:t>Cohen's</a:t>
            </a:r>
            <a:r>
              <a:rPr lang="de-DE" sz="2000" b="1" dirty="0"/>
              <a:t> Kappa:</a:t>
            </a:r>
            <a:r>
              <a:rPr lang="de-DE" sz="2000" dirty="0"/>
              <a:t> 0.8129 (starke Übereinstimmung)</a:t>
            </a:r>
          </a:p>
          <a:p>
            <a:pPr marL="0" indent="0">
              <a:buNone/>
            </a:pPr>
            <a:r>
              <a:rPr lang="de-DE" sz="2000" b="1" dirty="0"/>
              <a:t>Per-Class F1-Scores</a:t>
            </a:r>
          </a:p>
          <a:p>
            <a:r>
              <a:rPr lang="de-DE" sz="2000" b="1" dirty="0" err="1"/>
              <a:t>Attentive</a:t>
            </a:r>
            <a:r>
              <a:rPr lang="de-DE" sz="2000" b="1" dirty="0"/>
              <a:t>:</a:t>
            </a:r>
            <a:r>
              <a:rPr lang="de-DE" sz="2000" dirty="0"/>
              <a:t> 0.92 | </a:t>
            </a:r>
            <a:r>
              <a:rPr lang="de-DE" sz="2000" b="1" dirty="0" err="1"/>
              <a:t>Inattentive</a:t>
            </a:r>
            <a:r>
              <a:rPr lang="de-DE" sz="2000" b="1" dirty="0"/>
              <a:t>:</a:t>
            </a:r>
            <a:r>
              <a:rPr lang="de-DE" sz="2000" dirty="0"/>
              <a:t> 0.89 | </a:t>
            </a:r>
            <a:r>
              <a:rPr lang="de-DE" sz="2000" b="1" dirty="0"/>
              <a:t>Aggressive:</a:t>
            </a:r>
            <a:r>
              <a:rPr lang="de-DE" sz="2000" dirty="0"/>
              <a:t> 0.89</a:t>
            </a:r>
          </a:p>
          <a:p>
            <a:endParaRPr lang="de-DE" sz="2000" dirty="0"/>
          </a:p>
        </p:txBody>
      </p:sp>
      <p:pic>
        <p:nvPicPr>
          <p:cNvPr id="5" name="Grafik 4" descr="Ein Bild, das Text, Screenshot, Schrift enthält.&#10;&#10;KI-generierte Inhalte können fehlerhaft sein.">
            <a:extLst>
              <a:ext uri="{FF2B5EF4-FFF2-40B4-BE49-F238E27FC236}">
                <a16:creationId xmlns:a16="http://schemas.microsoft.com/office/drawing/2014/main" id="{2F5EC6CF-7640-D112-6B3B-EF62448511A8}"/>
              </a:ext>
            </a:extLst>
          </p:cNvPr>
          <p:cNvPicPr>
            <a:picLocks noChangeAspect="1"/>
          </p:cNvPicPr>
          <p:nvPr/>
        </p:nvPicPr>
        <p:blipFill>
          <a:blip r:embed="rId3"/>
          <a:stretch>
            <a:fillRect/>
          </a:stretch>
        </p:blipFill>
        <p:spPr>
          <a:xfrm>
            <a:off x="7426113" y="2184914"/>
            <a:ext cx="3920923" cy="3755915"/>
          </a:xfrm>
          <a:prstGeom prst="rect">
            <a:avLst/>
          </a:prstGeom>
        </p:spPr>
      </p:pic>
      <p:sp>
        <p:nvSpPr>
          <p:cNvPr id="21" name="Freeform: Shape 2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liennummernplatzhalter 3">
            <a:extLst>
              <a:ext uri="{FF2B5EF4-FFF2-40B4-BE49-F238E27FC236}">
                <a16:creationId xmlns:a16="http://schemas.microsoft.com/office/drawing/2014/main" id="{C4F7CD73-2FCB-EB01-470C-269BD5BE9656}"/>
              </a:ext>
            </a:extLst>
          </p:cNvPr>
          <p:cNvSpPr>
            <a:spLocks noGrp="1"/>
          </p:cNvSpPr>
          <p:nvPr>
            <p:ph type="sldNum" sz="quarter" idx="12"/>
          </p:nvPr>
        </p:nvSpPr>
        <p:spPr/>
        <p:txBody>
          <a:bodyPr/>
          <a:lstStyle/>
          <a:p>
            <a:fld id="{C1E9208F-C39B-4C02-96DE-7FDA3955F0A6}" type="slidenum">
              <a:rPr lang="de-DE" smtClean="0"/>
              <a:t>9</a:t>
            </a:fld>
            <a:endParaRPr lang="de-DE"/>
          </a:p>
        </p:txBody>
      </p:sp>
    </p:spTree>
    <p:extLst>
      <p:ext uri="{BB962C8B-B14F-4D97-AF65-F5344CB8AC3E}">
        <p14:creationId xmlns:p14="http://schemas.microsoft.com/office/powerpoint/2010/main" val="2190461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C1DC36-3E73-14E8-F508-511045D577C1}"/>
              </a:ext>
            </a:extLst>
          </p:cNvPr>
          <p:cNvSpPr>
            <a:spLocks noGrp="1"/>
          </p:cNvSpPr>
          <p:nvPr>
            <p:ph type="title"/>
          </p:nvPr>
        </p:nvSpPr>
        <p:spPr/>
        <p:txBody>
          <a:bodyPr/>
          <a:lstStyle/>
          <a:p>
            <a:r>
              <a:rPr lang="de-DE" b="1" dirty="0"/>
              <a:t>Random Forest: Ergebnisse</a:t>
            </a:r>
            <a:endParaRPr lang="de-DE" dirty="0"/>
          </a:p>
        </p:txBody>
      </p:sp>
      <p:pic>
        <p:nvPicPr>
          <p:cNvPr id="5" name="Inhaltsplatzhalter 4" descr="Ein Bild, das Text, Screenshot, Diagramm, Rechteck enthält.&#10;&#10;KI-generierte Inhalte können fehlerhaft sein.">
            <a:extLst>
              <a:ext uri="{FF2B5EF4-FFF2-40B4-BE49-F238E27FC236}">
                <a16:creationId xmlns:a16="http://schemas.microsoft.com/office/drawing/2014/main" id="{90E13531-E9BA-0739-62AB-8B895CC784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83189" y="1825625"/>
            <a:ext cx="5625622" cy="4351338"/>
          </a:xfrm>
        </p:spPr>
      </p:pic>
      <p:sp>
        <p:nvSpPr>
          <p:cNvPr id="3" name="Foliennummernplatzhalter 2">
            <a:extLst>
              <a:ext uri="{FF2B5EF4-FFF2-40B4-BE49-F238E27FC236}">
                <a16:creationId xmlns:a16="http://schemas.microsoft.com/office/drawing/2014/main" id="{32EF6A26-D555-F36D-FE0F-B3D06D3AF85C}"/>
              </a:ext>
            </a:extLst>
          </p:cNvPr>
          <p:cNvSpPr>
            <a:spLocks noGrp="1"/>
          </p:cNvSpPr>
          <p:nvPr>
            <p:ph type="sldNum" sz="quarter" idx="12"/>
          </p:nvPr>
        </p:nvSpPr>
        <p:spPr/>
        <p:txBody>
          <a:bodyPr/>
          <a:lstStyle/>
          <a:p>
            <a:fld id="{C1E9208F-C39B-4C02-96DE-7FDA3955F0A6}" type="slidenum">
              <a:rPr lang="de-DE" smtClean="0"/>
              <a:t>10</a:t>
            </a:fld>
            <a:endParaRPr lang="de-DE"/>
          </a:p>
        </p:txBody>
      </p:sp>
    </p:spTree>
    <p:extLst>
      <p:ext uri="{BB962C8B-B14F-4D97-AF65-F5344CB8AC3E}">
        <p14:creationId xmlns:p14="http://schemas.microsoft.com/office/powerpoint/2010/main" val="189806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9EDB4D9F-AB2D-7622-7E03-E07337973011}"/>
              </a:ext>
            </a:extLst>
          </p:cNvPr>
          <p:cNvSpPr>
            <a:spLocks noGrp="1"/>
          </p:cNvSpPr>
          <p:nvPr>
            <p:ph type="title"/>
          </p:nvPr>
        </p:nvSpPr>
        <p:spPr>
          <a:xfrm>
            <a:off x="1137034" y="609597"/>
            <a:ext cx="9392421" cy="1330841"/>
          </a:xfrm>
        </p:spPr>
        <p:txBody>
          <a:bodyPr>
            <a:normAutofit/>
          </a:bodyPr>
          <a:lstStyle/>
          <a:p>
            <a:r>
              <a:rPr lang="de-DE" b="1"/>
              <a:t>Modellierung: LightGBM</a:t>
            </a:r>
            <a:endParaRPr lang="de-DE"/>
          </a:p>
        </p:txBody>
      </p:sp>
      <p:sp>
        <p:nvSpPr>
          <p:cNvPr id="3" name="Inhaltsplatzhalter 2">
            <a:extLst>
              <a:ext uri="{FF2B5EF4-FFF2-40B4-BE49-F238E27FC236}">
                <a16:creationId xmlns:a16="http://schemas.microsoft.com/office/drawing/2014/main" id="{5737DB13-09B6-92DE-524E-9616891928ED}"/>
              </a:ext>
            </a:extLst>
          </p:cNvPr>
          <p:cNvSpPr>
            <a:spLocks noGrp="1"/>
          </p:cNvSpPr>
          <p:nvPr>
            <p:ph idx="1"/>
          </p:nvPr>
        </p:nvSpPr>
        <p:spPr>
          <a:xfrm>
            <a:off x="1137034" y="2198362"/>
            <a:ext cx="4958966" cy="3917773"/>
          </a:xfrm>
        </p:spPr>
        <p:txBody>
          <a:bodyPr>
            <a:normAutofit/>
          </a:bodyPr>
          <a:lstStyle/>
          <a:p>
            <a:pPr marL="0" indent="0">
              <a:buNone/>
            </a:pPr>
            <a:r>
              <a:rPr lang="de-DE" sz="1600" b="1"/>
              <a:t>Hyperparameter</a:t>
            </a:r>
          </a:p>
          <a:p>
            <a:r>
              <a:rPr lang="de-DE" sz="1600"/>
              <a:t>n_estimators: 200</a:t>
            </a:r>
          </a:p>
          <a:p>
            <a:r>
              <a:rPr lang="de-DE" sz="1600"/>
              <a:t>max_depth: 6</a:t>
            </a:r>
          </a:p>
          <a:p>
            <a:r>
              <a:rPr lang="de-DE" sz="1600"/>
              <a:t>learning_rate: 0.05</a:t>
            </a:r>
          </a:p>
          <a:p>
            <a:r>
              <a:rPr lang="de-DE" sz="1600"/>
              <a:t>subsample: 0.8</a:t>
            </a:r>
          </a:p>
          <a:p>
            <a:r>
              <a:rPr lang="de-DE" sz="1600"/>
              <a:t>GPU-Beschleunigung</a:t>
            </a:r>
          </a:p>
          <a:p>
            <a:pPr marL="0" indent="0">
              <a:buNone/>
            </a:pPr>
            <a:r>
              <a:rPr lang="de-DE" sz="1600" b="1"/>
              <a:t>Vorteile</a:t>
            </a:r>
          </a:p>
          <a:p>
            <a:r>
              <a:rPr lang="de-DE" sz="1600"/>
              <a:t>Gradient Boosting</a:t>
            </a:r>
          </a:p>
          <a:p>
            <a:r>
              <a:rPr lang="de-DE" sz="1600"/>
              <a:t>Schneller (GPU Training)</a:t>
            </a:r>
          </a:p>
          <a:p>
            <a:r>
              <a:rPr lang="de-DE" sz="1600"/>
              <a:t>Bessere Generalisierung</a:t>
            </a:r>
          </a:p>
          <a:p>
            <a:r>
              <a:rPr lang="de-DE" sz="1600"/>
              <a:t>Größere Tiefe möglich</a:t>
            </a:r>
          </a:p>
          <a:p>
            <a:endParaRPr lang="de-DE" sz="1600"/>
          </a:p>
        </p:txBody>
      </p:sp>
      <p:pic>
        <p:nvPicPr>
          <p:cNvPr id="5" name="Grafik 4" descr="Ein Bild, das Text, Screenshot, Schrift enthält.&#10;&#10;KI-generierte Inhalte können fehlerhaft sein.">
            <a:extLst>
              <a:ext uri="{FF2B5EF4-FFF2-40B4-BE49-F238E27FC236}">
                <a16:creationId xmlns:a16="http://schemas.microsoft.com/office/drawing/2014/main" id="{4D795BE7-BFEB-1371-D2B8-A54CD63580BF}"/>
              </a:ext>
            </a:extLst>
          </p:cNvPr>
          <p:cNvPicPr>
            <a:picLocks noChangeAspect="1"/>
          </p:cNvPicPr>
          <p:nvPr/>
        </p:nvPicPr>
        <p:blipFill>
          <a:blip r:embed="rId3"/>
          <a:stretch>
            <a:fillRect/>
          </a:stretch>
        </p:blipFill>
        <p:spPr>
          <a:xfrm>
            <a:off x="7256922" y="2184914"/>
            <a:ext cx="3713395" cy="3755915"/>
          </a:xfrm>
          <a:prstGeom prst="rect">
            <a:avLst/>
          </a:prstGeom>
        </p:spPr>
      </p:pic>
      <p:sp>
        <p:nvSpPr>
          <p:cNvPr id="21" name="Freeform: Shape 2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liennummernplatzhalter 3">
            <a:extLst>
              <a:ext uri="{FF2B5EF4-FFF2-40B4-BE49-F238E27FC236}">
                <a16:creationId xmlns:a16="http://schemas.microsoft.com/office/drawing/2014/main" id="{9DF1AD72-285A-F86B-02AE-C67A94F2B481}"/>
              </a:ext>
            </a:extLst>
          </p:cNvPr>
          <p:cNvSpPr>
            <a:spLocks noGrp="1"/>
          </p:cNvSpPr>
          <p:nvPr>
            <p:ph type="sldNum" sz="quarter" idx="12"/>
          </p:nvPr>
        </p:nvSpPr>
        <p:spPr/>
        <p:txBody>
          <a:bodyPr/>
          <a:lstStyle/>
          <a:p>
            <a:fld id="{C1E9208F-C39B-4C02-96DE-7FDA3955F0A6}" type="slidenum">
              <a:rPr lang="de-DE" smtClean="0"/>
              <a:t>11</a:t>
            </a:fld>
            <a:endParaRPr lang="de-DE"/>
          </a:p>
        </p:txBody>
      </p:sp>
    </p:spTree>
    <p:extLst>
      <p:ext uri="{BB962C8B-B14F-4D97-AF65-F5344CB8AC3E}">
        <p14:creationId xmlns:p14="http://schemas.microsoft.com/office/powerpoint/2010/main" val="2299300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18DE514F-8EF7-5025-02D5-C80960FA562C}"/>
              </a:ext>
            </a:extLst>
          </p:cNvPr>
          <p:cNvSpPr>
            <a:spLocks noGrp="1"/>
          </p:cNvSpPr>
          <p:nvPr>
            <p:ph type="title"/>
          </p:nvPr>
        </p:nvSpPr>
        <p:spPr>
          <a:xfrm>
            <a:off x="1137034" y="609597"/>
            <a:ext cx="9392421" cy="1330841"/>
          </a:xfrm>
        </p:spPr>
        <p:txBody>
          <a:bodyPr>
            <a:normAutofit/>
          </a:bodyPr>
          <a:lstStyle/>
          <a:p>
            <a:r>
              <a:rPr lang="de-DE" b="1" dirty="0" err="1"/>
              <a:t>LightGBM</a:t>
            </a:r>
            <a:r>
              <a:rPr lang="de-DE" b="1" dirty="0"/>
              <a:t>: Ergebnisse &amp; Vergleich</a:t>
            </a:r>
            <a:endParaRPr lang="de-DE" dirty="0"/>
          </a:p>
        </p:txBody>
      </p:sp>
      <p:sp>
        <p:nvSpPr>
          <p:cNvPr id="3" name="Inhaltsplatzhalter 2">
            <a:extLst>
              <a:ext uri="{FF2B5EF4-FFF2-40B4-BE49-F238E27FC236}">
                <a16:creationId xmlns:a16="http://schemas.microsoft.com/office/drawing/2014/main" id="{2EA4DCD7-1F71-237C-84CB-E2FE0AA016B2}"/>
              </a:ext>
            </a:extLst>
          </p:cNvPr>
          <p:cNvSpPr>
            <a:spLocks noGrp="1"/>
          </p:cNvSpPr>
          <p:nvPr>
            <p:ph idx="1"/>
          </p:nvPr>
        </p:nvSpPr>
        <p:spPr>
          <a:xfrm>
            <a:off x="1137034" y="2198362"/>
            <a:ext cx="4958966" cy="3917773"/>
          </a:xfrm>
        </p:spPr>
        <p:txBody>
          <a:bodyPr>
            <a:normAutofit/>
          </a:bodyPr>
          <a:lstStyle/>
          <a:p>
            <a:pPr marL="0" indent="0">
              <a:buNone/>
            </a:pPr>
            <a:r>
              <a:rPr lang="de-DE" sz="2000" b="1" dirty="0"/>
              <a:t>Test </a:t>
            </a:r>
            <a:r>
              <a:rPr lang="de-DE" sz="2000" b="1" dirty="0" err="1"/>
              <a:t>Accuracy</a:t>
            </a:r>
            <a:r>
              <a:rPr lang="de-DE" sz="2000" b="1" dirty="0"/>
              <a:t> &amp; Metriken (Train/Test Split)</a:t>
            </a:r>
          </a:p>
          <a:p>
            <a:r>
              <a:rPr lang="de-DE" sz="2000" b="1" dirty="0"/>
              <a:t>Train </a:t>
            </a:r>
            <a:r>
              <a:rPr lang="de-DE" sz="2000" b="1" dirty="0" err="1"/>
              <a:t>Accuracy</a:t>
            </a:r>
            <a:r>
              <a:rPr lang="de-DE" sz="2000" b="1" dirty="0"/>
              <a:t>:</a:t>
            </a:r>
            <a:r>
              <a:rPr lang="de-DE" sz="2000" dirty="0"/>
              <a:t> 92.48% | </a:t>
            </a:r>
            <a:r>
              <a:rPr lang="de-DE" sz="2000" b="1" dirty="0"/>
              <a:t>Test </a:t>
            </a:r>
            <a:r>
              <a:rPr lang="de-DE" sz="2000" b="1" dirty="0" err="1"/>
              <a:t>Accuracy</a:t>
            </a:r>
            <a:r>
              <a:rPr lang="de-DE" sz="2000" b="1" dirty="0"/>
              <a:t>:</a:t>
            </a:r>
            <a:r>
              <a:rPr lang="de-DE" sz="2000" dirty="0"/>
              <a:t> 91.96% | </a:t>
            </a:r>
            <a:r>
              <a:rPr lang="de-DE" sz="2000" b="1" dirty="0"/>
              <a:t>Train-Test </a:t>
            </a:r>
          </a:p>
          <a:p>
            <a:r>
              <a:rPr lang="de-DE" sz="2000" b="1" dirty="0" err="1"/>
              <a:t>Cohen's</a:t>
            </a:r>
            <a:r>
              <a:rPr lang="de-DE" sz="2000" b="1" dirty="0"/>
              <a:t> Kappa:</a:t>
            </a:r>
            <a:r>
              <a:rPr lang="de-DE" sz="2000" dirty="0"/>
              <a:t> 0.8697 (sehr starke Übereinstimmung)</a:t>
            </a:r>
          </a:p>
          <a:p>
            <a:pPr marL="0" indent="0">
              <a:buNone/>
            </a:pPr>
            <a:r>
              <a:rPr lang="de-DE" sz="2000" b="1" dirty="0"/>
              <a:t>Per-Class F1-Scores</a:t>
            </a:r>
          </a:p>
          <a:p>
            <a:r>
              <a:rPr lang="de-DE" sz="2000" b="1" dirty="0" err="1"/>
              <a:t>Attentive</a:t>
            </a:r>
            <a:r>
              <a:rPr lang="de-DE" sz="2000" b="1" dirty="0"/>
              <a:t>:</a:t>
            </a:r>
            <a:r>
              <a:rPr lang="de-DE" sz="2000" dirty="0"/>
              <a:t> 0.94 | </a:t>
            </a:r>
            <a:r>
              <a:rPr lang="de-DE" sz="2000" b="1" dirty="0" err="1"/>
              <a:t>Inattentive</a:t>
            </a:r>
            <a:r>
              <a:rPr lang="de-DE" sz="2000" b="1" dirty="0"/>
              <a:t>:</a:t>
            </a:r>
            <a:r>
              <a:rPr lang="de-DE" sz="2000" dirty="0"/>
              <a:t> 0.90 | </a:t>
            </a:r>
            <a:r>
              <a:rPr lang="de-DE" sz="2000" b="1" dirty="0"/>
              <a:t>Aggressive:</a:t>
            </a:r>
            <a:r>
              <a:rPr lang="de-DE" sz="2000" dirty="0"/>
              <a:t> 0.90</a:t>
            </a:r>
          </a:p>
          <a:p>
            <a:endParaRPr lang="de-DE" sz="2000" dirty="0"/>
          </a:p>
        </p:txBody>
      </p:sp>
      <p:pic>
        <p:nvPicPr>
          <p:cNvPr id="7" name="Grafik 6" descr="Ein Bild, das Text, Screenshot, Schrift enthält.&#10;&#10;KI-generierte Inhalte können fehlerhaft sein.">
            <a:extLst>
              <a:ext uri="{FF2B5EF4-FFF2-40B4-BE49-F238E27FC236}">
                <a16:creationId xmlns:a16="http://schemas.microsoft.com/office/drawing/2014/main" id="{04E6ADA5-E9BE-E31B-1A6F-20D624C54EF3}"/>
              </a:ext>
            </a:extLst>
          </p:cNvPr>
          <p:cNvPicPr>
            <a:picLocks noChangeAspect="1"/>
          </p:cNvPicPr>
          <p:nvPr/>
        </p:nvPicPr>
        <p:blipFill>
          <a:blip r:embed="rId3"/>
          <a:stretch>
            <a:fillRect/>
          </a:stretch>
        </p:blipFill>
        <p:spPr>
          <a:xfrm>
            <a:off x="7369521" y="2184914"/>
            <a:ext cx="3488197" cy="3755915"/>
          </a:xfrm>
          <a:prstGeom prst="rect">
            <a:avLst/>
          </a:prstGeom>
        </p:spPr>
      </p:pic>
      <p:sp>
        <p:nvSpPr>
          <p:cNvPr id="16"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liennummernplatzhalter 3">
            <a:extLst>
              <a:ext uri="{FF2B5EF4-FFF2-40B4-BE49-F238E27FC236}">
                <a16:creationId xmlns:a16="http://schemas.microsoft.com/office/drawing/2014/main" id="{B4BE071C-3F2F-781C-5B69-E4EC52CE99AD}"/>
              </a:ext>
            </a:extLst>
          </p:cNvPr>
          <p:cNvSpPr>
            <a:spLocks noGrp="1"/>
          </p:cNvSpPr>
          <p:nvPr>
            <p:ph type="sldNum" sz="quarter" idx="12"/>
          </p:nvPr>
        </p:nvSpPr>
        <p:spPr/>
        <p:txBody>
          <a:bodyPr/>
          <a:lstStyle/>
          <a:p>
            <a:fld id="{C1E9208F-C39B-4C02-96DE-7FDA3955F0A6}" type="slidenum">
              <a:rPr lang="de-DE" smtClean="0"/>
              <a:t>12</a:t>
            </a:fld>
            <a:endParaRPr lang="de-DE"/>
          </a:p>
        </p:txBody>
      </p:sp>
    </p:spTree>
    <p:extLst>
      <p:ext uri="{BB962C8B-B14F-4D97-AF65-F5344CB8AC3E}">
        <p14:creationId xmlns:p14="http://schemas.microsoft.com/office/powerpoint/2010/main" val="4054527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2C1A22CE-A1B5-1EEB-1625-7D4CF2857D2A}"/>
              </a:ext>
            </a:extLst>
          </p:cNvPr>
          <p:cNvSpPr>
            <a:spLocks noGrp="1"/>
          </p:cNvSpPr>
          <p:nvPr>
            <p:ph type="title"/>
          </p:nvPr>
        </p:nvSpPr>
        <p:spPr>
          <a:xfrm>
            <a:off x="1137034" y="609597"/>
            <a:ext cx="9392421" cy="1330841"/>
          </a:xfrm>
        </p:spPr>
        <p:txBody>
          <a:bodyPr>
            <a:normAutofit/>
          </a:bodyPr>
          <a:lstStyle/>
          <a:p>
            <a:r>
              <a:rPr lang="de-DE" b="1" dirty="0" err="1"/>
              <a:t>Confusion</a:t>
            </a:r>
            <a:r>
              <a:rPr lang="de-DE" b="1" dirty="0"/>
              <a:t> Matrix &amp; Klassifikation</a:t>
            </a:r>
            <a:endParaRPr lang="de-DE" dirty="0"/>
          </a:p>
        </p:txBody>
      </p:sp>
      <p:sp>
        <p:nvSpPr>
          <p:cNvPr id="3" name="Inhaltsplatzhalter 2">
            <a:extLst>
              <a:ext uri="{FF2B5EF4-FFF2-40B4-BE49-F238E27FC236}">
                <a16:creationId xmlns:a16="http://schemas.microsoft.com/office/drawing/2014/main" id="{CA5833E9-749F-90B4-76C4-4169340C2B8F}"/>
              </a:ext>
            </a:extLst>
          </p:cNvPr>
          <p:cNvSpPr>
            <a:spLocks noGrp="1"/>
          </p:cNvSpPr>
          <p:nvPr>
            <p:ph idx="1"/>
          </p:nvPr>
        </p:nvSpPr>
        <p:spPr>
          <a:xfrm>
            <a:off x="1137034" y="2198362"/>
            <a:ext cx="4958966" cy="3917773"/>
          </a:xfrm>
        </p:spPr>
        <p:txBody>
          <a:bodyPr>
            <a:normAutofit/>
          </a:bodyPr>
          <a:lstStyle/>
          <a:p>
            <a:pPr marL="0" indent="0">
              <a:buNone/>
            </a:pPr>
            <a:endParaRPr lang="de-DE" sz="2000" dirty="0"/>
          </a:p>
        </p:txBody>
      </p:sp>
      <p:pic>
        <p:nvPicPr>
          <p:cNvPr id="5" name="Grafik 4" descr="Ein Bild, das Text, Screenshot, Diagramm, Design enthält.&#10;&#10;KI-generierte Inhalte können fehlerhaft sein.">
            <a:extLst>
              <a:ext uri="{FF2B5EF4-FFF2-40B4-BE49-F238E27FC236}">
                <a16:creationId xmlns:a16="http://schemas.microsoft.com/office/drawing/2014/main" id="{B6FEA3AA-209D-53DA-FDDC-7FF7DEDAA8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9245" y="1679331"/>
            <a:ext cx="6703778" cy="5178670"/>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liennummernplatzhalter 3">
            <a:extLst>
              <a:ext uri="{FF2B5EF4-FFF2-40B4-BE49-F238E27FC236}">
                <a16:creationId xmlns:a16="http://schemas.microsoft.com/office/drawing/2014/main" id="{6C5164C8-A9DF-BA5C-F317-2321D7BF91D5}"/>
              </a:ext>
            </a:extLst>
          </p:cNvPr>
          <p:cNvSpPr>
            <a:spLocks noGrp="1"/>
          </p:cNvSpPr>
          <p:nvPr>
            <p:ph type="sldNum" sz="quarter" idx="12"/>
          </p:nvPr>
        </p:nvSpPr>
        <p:spPr/>
        <p:txBody>
          <a:bodyPr/>
          <a:lstStyle/>
          <a:p>
            <a:fld id="{C1E9208F-C39B-4C02-96DE-7FDA3955F0A6}" type="slidenum">
              <a:rPr lang="de-DE" smtClean="0"/>
              <a:t>13</a:t>
            </a:fld>
            <a:endParaRPr lang="de-DE"/>
          </a:p>
        </p:txBody>
      </p:sp>
    </p:spTree>
    <p:extLst>
      <p:ext uri="{BB962C8B-B14F-4D97-AF65-F5344CB8AC3E}">
        <p14:creationId xmlns:p14="http://schemas.microsoft.com/office/powerpoint/2010/main" val="2336914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4E92CB5E-6113-60A8-8AD3-58C9893B3801}"/>
              </a:ext>
            </a:extLst>
          </p:cNvPr>
          <p:cNvSpPr>
            <a:spLocks noGrp="1"/>
          </p:cNvSpPr>
          <p:nvPr>
            <p:ph type="title"/>
          </p:nvPr>
        </p:nvSpPr>
        <p:spPr>
          <a:xfrm>
            <a:off x="1137034" y="609597"/>
            <a:ext cx="9392421" cy="1330841"/>
          </a:xfrm>
        </p:spPr>
        <p:txBody>
          <a:bodyPr>
            <a:normAutofit/>
          </a:bodyPr>
          <a:lstStyle/>
          <a:p>
            <a:r>
              <a:rPr lang="de-DE" b="1" dirty="0"/>
              <a:t>Statistische Merkmale: Datenübersicht</a:t>
            </a:r>
            <a:endParaRPr lang="de-DE" dirty="0"/>
          </a:p>
        </p:txBody>
      </p:sp>
      <p:sp>
        <p:nvSpPr>
          <p:cNvPr id="3" name="Inhaltsplatzhalter 2">
            <a:extLst>
              <a:ext uri="{FF2B5EF4-FFF2-40B4-BE49-F238E27FC236}">
                <a16:creationId xmlns:a16="http://schemas.microsoft.com/office/drawing/2014/main" id="{B6224EF3-C1A8-2251-C7DF-AE665E1BD65A}"/>
              </a:ext>
            </a:extLst>
          </p:cNvPr>
          <p:cNvSpPr>
            <a:spLocks noGrp="1"/>
          </p:cNvSpPr>
          <p:nvPr>
            <p:ph idx="1"/>
          </p:nvPr>
        </p:nvSpPr>
        <p:spPr>
          <a:xfrm>
            <a:off x="1137034" y="2198362"/>
            <a:ext cx="4958966" cy="3917773"/>
          </a:xfrm>
        </p:spPr>
        <p:txBody>
          <a:bodyPr>
            <a:normAutofit/>
          </a:bodyPr>
          <a:lstStyle/>
          <a:p>
            <a:pPr marL="0" indent="0">
              <a:buNone/>
            </a:pPr>
            <a:r>
              <a:rPr lang="de-DE" sz="1900" b="1" dirty="0"/>
              <a:t>Datensatz-Statistiken</a:t>
            </a:r>
          </a:p>
          <a:p>
            <a:r>
              <a:rPr lang="de-DE" sz="1900" b="1" dirty="0"/>
              <a:t>Gesamtsamples:</a:t>
            </a:r>
            <a:r>
              <a:rPr lang="de-DE" sz="1900" dirty="0"/>
              <a:t> 5.037.534</a:t>
            </a:r>
          </a:p>
          <a:p>
            <a:r>
              <a:rPr lang="de-DE" sz="1900" b="1" dirty="0"/>
              <a:t>Feature-Dimensionen:</a:t>
            </a:r>
            <a:r>
              <a:rPr lang="de-DE" sz="1900" dirty="0"/>
              <a:t> 37</a:t>
            </a:r>
          </a:p>
          <a:p>
            <a:r>
              <a:rPr lang="de-DE" sz="1900" b="1" dirty="0" err="1"/>
              <a:t>Trainsamples</a:t>
            </a:r>
            <a:r>
              <a:rPr lang="de-DE" sz="1900" b="1" dirty="0"/>
              <a:t>:</a:t>
            </a:r>
            <a:r>
              <a:rPr lang="de-DE" sz="1900" dirty="0"/>
              <a:t> 4.010.219 (80%)</a:t>
            </a:r>
          </a:p>
          <a:p>
            <a:r>
              <a:rPr lang="de-DE" sz="1900" b="1" dirty="0"/>
              <a:t>Testsamples:</a:t>
            </a:r>
            <a:r>
              <a:rPr lang="de-DE" sz="1900" dirty="0"/>
              <a:t> 1.027.315 (20%)</a:t>
            </a:r>
          </a:p>
          <a:p>
            <a:r>
              <a:rPr lang="de-DE" sz="1900" b="1" dirty="0"/>
              <a:t>Klassen:</a:t>
            </a:r>
            <a:r>
              <a:rPr lang="de-DE" sz="1900" dirty="0"/>
              <a:t> 3 (</a:t>
            </a:r>
            <a:r>
              <a:rPr lang="de-DE" sz="1900" dirty="0" err="1"/>
              <a:t>Attentive</a:t>
            </a:r>
            <a:r>
              <a:rPr lang="de-DE" sz="1900" dirty="0"/>
              <a:t>, </a:t>
            </a:r>
            <a:r>
              <a:rPr lang="de-DE" sz="1900" dirty="0" err="1"/>
              <a:t>Inattentive</a:t>
            </a:r>
            <a:r>
              <a:rPr lang="de-DE" sz="1900" dirty="0"/>
              <a:t>, Aggressive)</a:t>
            </a:r>
          </a:p>
          <a:p>
            <a:r>
              <a:rPr lang="de-DE" sz="1900" b="1" dirty="0"/>
              <a:t>Sampling Rate:</a:t>
            </a:r>
            <a:r>
              <a:rPr lang="de-DE" sz="1900" dirty="0"/>
              <a:t> 50 Hz</a:t>
            </a:r>
          </a:p>
        </p:txBody>
      </p:sp>
      <p:pic>
        <p:nvPicPr>
          <p:cNvPr id="5" name="Grafik 4" descr="Ein Bild, das Text, Screenshot, parallel, Diagramm enthält.&#10;&#10;KI-generierte Inhalte können fehlerhaft sein.">
            <a:extLst>
              <a:ext uri="{FF2B5EF4-FFF2-40B4-BE49-F238E27FC236}">
                <a16:creationId xmlns:a16="http://schemas.microsoft.com/office/drawing/2014/main" id="{17415670-686E-8EED-A538-69EBBACB5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256" y="1412194"/>
            <a:ext cx="4909089" cy="452863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liennummernplatzhalter 3">
            <a:extLst>
              <a:ext uri="{FF2B5EF4-FFF2-40B4-BE49-F238E27FC236}">
                <a16:creationId xmlns:a16="http://schemas.microsoft.com/office/drawing/2014/main" id="{B540D8F1-8746-CA63-CEA3-1794A31E6AFC}"/>
              </a:ext>
            </a:extLst>
          </p:cNvPr>
          <p:cNvSpPr>
            <a:spLocks noGrp="1"/>
          </p:cNvSpPr>
          <p:nvPr>
            <p:ph type="sldNum" sz="quarter" idx="12"/>
          </p:nvPr>
        </p:nvSpPr>
        <p:spPr/>
        <p:txBody>
          <a:bodyPr/>
          <a:lstStyle/>
          <a:p>
            <a:fld id="{C1E9208F-C39B-4C02-96DE-7FDA3955F0A6}" type="slidenum">
              <a:rPr lang="de-DE" smtClean="0"/>
              <a:t>14</a:t>
            </a:fld>
            <a:endParaRPr lang="de-DE"/>
          </a:p>
        </p:txBody>
      </p:sp>
    </p:spTree>
    <p:extLst>
      <p:ext uri="{BB962C8B-B14F-4D97-AF65-F5344CB8AC3E}">
        <p14:creationId xmlns:p14="http://schemas.microsoft.com/office/powerpoint/2010/main" val="63140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el 4">
            <a:extLst>
              <a:ext uri="{FF2B5EF4-FFF2-40B4-BE49-F238E27FC236}">
                <a16:creationId xmlns:a16="http://schemas.microsoft.com/office/drawing/2014/main" id="{D542FADC-CB92-8C84-E3BC-ABDC4836308D}"/>
              </a:ext>
            </a:extLst>
          </p:cNvPr>
          <p:cNvSpPr>
            <a:spLocks noGrp="1"/>
          </p:cNvSpPr>
          <p:nvPr>
            <p:ph type="title"/>
          </p:nvPr>
        </p:nvSpPr>
        <p:spPr>
          <a:xfrm>
            <a:off x="1137034" y="609597"/>
            <a:ext cx="9392421" cy="1330841"/>
          </a:xfrm>
        </p:spPr>
        <p:txBody>
          <a:bodyPr>
            <a:normAutofit/>
          </a:bodyPr>
          <a:lstStyle/>
          <a:p>
            <a:r>
              <a:rPr lang="de-DE" b="1" dirty="0"/>
              <a:t>Top Features &amp; </a:t>
            </a:r>
            <a:r>
              <a:rPr lang="de-DE" b="1" dirty="0" err="1"/>
              <a:t>Insights</a:t>
            </a:r>
            <a:endParaRPr lang="de-DE"/>
          </a:p>
        </p:txBody>
      </p:sp>
      <p:sp>
        <p:nvSpPr>
          <p:cNvPr id="3" name="Inhaltsplatzhalter 2">
            <a:extLst>
              <a:ext uri="{FF2B5EF4-FFF2-40B4-BE49-F238E27FC236}">
                <a16:creationId xmlns:a16="http://schemas.microsoft.com/office/drawing/2014/main" id="{C4DC3647-787F-97CF-077E-7695E61B998E}"/>
              </a:ext>
            </a:extLst>
          </p:cNvPr>
          <p:cNvSpPr>
            <a:spLocks noGrp="1"/>
          </p:cNvSpPr>
          <p:nvPr>
            <p:ph idx="1"/>
          </p:nvPr>
        </p:nvSpPr>
        <p:spPr>
          <a:xfrm>
            <a:off x="1137034" y="2198362"/>
            <a:ext cx="4958966" cy="3917773"/>
          </a:xfrm>
        </p:spPr>
        <p:txBody>
          <a:bodyPr>
            <a:normAutofit/>
          </a:bodyPr>
          <a:lstStyle/>
          <a:p>
            <a:pPr marL="0" indent="0">
              <a:buNone/>
            </a:pPr>
            <a:r>
              <a:rPr lang="de-DE" sz="2000" b="1"/>
              <a:t>Wichtigste Indikatoren für Fahrerzustand</a:t>
            </a:r>
          </a:p>
          <a:p>
            <a:pPr marL="0" indent="0">
              <a:buNone/>
            </a:pPr>
            <a:r>
              <a:rPr lang="de-DE" sz="2000" b="1"/>
              <a:t>Für Aggressive Driving:</a:t>
            </a:r>
            <a:endParaRPr lang="de-DE" sz="2000"/>
          </a:p>
          <a:p>
            <a:r>
              <a:rPr lang="de-DE" sz="2000"/>
              <a:t>Jerk (Beschleunigungsruckartigkeit)</a:t>
            </a:r>
          </a:p>
          <a:p>
            <a:r>
              <a:rPr lang="de-DE" sz="2000"/>
              <a:t>Steering Rate (Lenkgeschwindigkeit)</a:t>
            </a:r>
          </a:p>
          <a:p>
            <a:r>
              <a:rPr lang="de-DE" sz="2000"/>
              <a:t>Throttle Changes (Gaspedalwechsel)</a:t>
            </a:r>
          </a:p>
          <a:p>
            <a:pPr marL="0" indent="0">
              <a:buNone/>
            </a:pPr>
            <a:r>
              <a:rPr lang="de-DE" sz="2000" b="1"/>
              <a:t>Für Inattentive Driving:</a:t>
            </a:r>
            <a:endParaRPr lang="de-DE" sz="2000"/>
          </a:p>
          <a:p>
            <a:r>
              <a:rPr lang="de-DE" sz="2000"/>
              <a:t>Gaze Off-Road Ratio</a:t>
            </a:r>
          </a:p>
          <a:p>
            <a:r>
              <a:rPr lang="de-DE" sz="2000"/>
              <a:t>Lateral Position Std (Spurabweichung)</a:t>
            </a:r>
          </a:p>
          <a:p>
            <a:r>
              <a:rPr lang="de-DE" sz="2000"/>
              <a:t>Eyelid Opening (Augenlidentöffnung)</a:t>
            </a:r>
          </a:p>
          <a:p>
            <a:endParaRPr lang="de-DE" sz="2000"/>
          </a:p>
        </p:txBody>
      </p:sp>
      <p:pic>
        <p:nvPicPr>
          <p:cNvPr id="7" name="Grafik 6" descr="Ein Bild, das Text, Screenshot, Reihe, Diagramm enthält.&#10;&#10;KI-generierte Inhalte können fehlerhaft sein.">
            <a:extLst>
              <a:ext uri="{FF2B5EF4-FFF2-40B4-BE49-F238E27FC236}">
                <a16:creationId xmlns:a16="http://schemas.microsoft.com/office/drawing/2014/main" id="{C4E2F123-AABB-FE35-1BC6-F651A5C220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894" y="1940438"/>
            <a:ext cx="5031936" cy="4000391"/>
          </a:xfrm>
          <a:prstGeom prst="rect">
            <a:avLst/>
          </a:prstGeom>
        </p:spPr>
      </p:pic>
      <p:sp>
        <p:nvSpPr>
          <p:cNvPr id="23" name="Freeform: Shape 2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Foliennummernplatzhalter 1">
            <a:extLst>
              <a:ext uri="{FF2B5EF4-FFF2-40B4-BE49-F238E27FC236}">
                <a16:creationId xmlns:a16="http://schemas.microsoft.com/office/drawing/2014/main" id="{9B9A102F-16B6-A9AF-A9BE-AA44A33960A0}"/>
              </a:ext>
            </a:extLst>
          </p:cNvPr>
          <p:cNvSpPr>
            <a:spLocks noGrp="1"/>
          </p:cNvSpPr>
          <p:nvPr>
            <p:ph type="sldNum" sz="quarter" idx="12"/>
          </p:nvPr>
        </p:nvSpPr>
        <p:spPr/>
        <p:txBody>
          <a:bodyPr/>
          <a:lstStyle/>
          <a:p>
            <a:fld id="{C1E9208F-C39B-4C02-96DE-7FDA3955F0A6}" type="slidenum">
              <a:rPr lang="de-DE" smtClean="0"/>
              <a:t>15</a:t>
            </a:fld>
            <a:endParaRPr lang="de-DE"/>
          </a:p>
        </p:txBody>
      </p:sp>
    </p:spTree>
    <p:extLst>
      <p:ext uri="{BB962C8B-B14F-4D97-AF65-F5344CB8AC3E}">
        <p14:creationId xmlns:p14="http://schemas.microsoft.com/office/powerpoint/2010/main" val="1581840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8559764C-635F-E856-1669-71F44A84A6BB}"/>
              </a:ext>
            </a:extLst>
          </p:cNvPr>
          <p:cNvSpPr>
            <a:spLocks noGrp="1"/>
          </p:cNvSpPr>
          <p:nvPr>
            <p:ph type="title"/>
          </p:nvPr>
        </p:nvSpPr>
        <p:spPr>
          <a:xfrm>
            <a:off x="1137036" y="548640"/>
            <a:ext cx="9543405" cy="1188720"/>
          </a:xfrm>
        </p:spPr>
        <p:txBody>
          <a:bodyPr>
            <a:normAutofit/>
          </a:bodyPr>
          <a:lstStyle/>
          <a:p>
            <a:r>
              <a:rPr lang="de-DE" b="1">
                <a:solidFill>
                  <a:schemeClr val="tx1">
                    <a:lumMod val="85000"/>
                    <a:lumOff val="15000"/>
                  </a:schemeClr>
                </a:solidFill>
              </a:rPr>
              <a:t>Zusammenfassung &amp; Ausblick</a:t>
            </a:r>
            <a:endParaRPr lang="de-DE">
              <a:solidFill>
                <a:schemeClr val="tx1">
                  <a:lumMod val="85000"/>
                  <a:lumOff val="15000"/>
                </a:schemeClr>
              </a:solidFill>
            </a:endParaRPr>
          </a:p>
        </p:txBody>
      </p:sp>
      <p:sp>
        <p:nvSpPr>
          <p:cNvPr id="3" name="Inhaltsplatzhalter 2">
            <a:extLst>
              <a:ext uri="{FF2B5EF4-FFF2-40B4-BE49-F238E27FC236}">
                <a16:creationId xmlns:a16="http://schemas.microsoft.com/office/drawing/2014/main" id="{2DD816C4-211F-146D-9D76-9FB883FACC3E}"/>
              </a:ext>
            </a:extLst>
          </p:cNvPr>
          <p:cNvSpPr>
            <a:spLocks noGrp="1"/>
          </p:cNvSpPr>
          <p:nvPr>
            <p:ph idx="1"/>
          </p:nvPr>
        </p:nvSpPr>
        <p:spPr>
          <a:xfrm>
            <a:off x="1957987" y="2431765"/>
            <a:ext cx="8276026" cy="3320031"/>
          </a:xfrm>
        </p:spPr>
        <p:txBody>
          <a:bodyPr anchor="ctr">
            <a:normAutofit/>
          </a:bodyPr>
          <a:lstStyle/>
          <a:p>
            <a:pPr marL="0" indent="0">
              <a:buNone/>
            </a:pPr>
            <a:r>
              <a:rPr lang="de-DE" sz="2200" b="1" dirty="0">
                <a:solidFill>
                  <a:schemeClr val="tx1">
                    <a:lumMod val="85000"/>
                    <a:lumOff val="15000"/>
                  </a:schemeClr>
                </a:solidFill>
              </a:rPr>
              <a:t>Schlüsselergebnisse</a:t>
            </a:r>
          </a:p>
          <a:p>
            <a:r>
              <a:rPr lang="de-DE" sz="2200" dirty="0">
                <a:solidFill>
                  <a:schemeClr val="tx1">
                    <a:lumMod val="85000"/>
                    <a:lumOff val="15000"/>
                  </a:schemeClr>
                </a:solidFill>
              </a:rPr>
              <a:t>Wir haben eine robuste Pipeline entwickelt, die multimodale Sensordaten integriert und Fahrerzustände mit 92% Genauigkeit klassifiziert, ohne manuelle Labels zu benötigen.</a:t>
            </a:r>
          </a:p>
          <a:p>
            <a:pPr marL="0" indent="0">
              <a:buNone/>
            </a:pPr>
            <a:r>
              <a:rPr lang="de-DE" sz="2200" b="1" dirty="0">
                <a:solidFill>
                  <a:schemeClr val="tx1">
                    <a:lumMod val="85000"/>
                    <a:lumOff val="15000"/>
                  </a:schemeClr>
                </a:solidFill>
              </a:rPr>
              <a:t>Zukünftige Arbeit</a:t>
            </a:r>
          </a:p>
          <a:p>
            <a:r>
              <a:rPr lang="de-DE" sz="2200" dirty="0">
                <a:solidFill>
                  <a:schemeClr val="tx1">
                    <a:lumMod val="85000"/>
                    <a:lumOff val="15000"/>
                  </a:schemeClr>
                </a:solidFill>
              </a:rPr>
              <a:t>Echtzeit-Integration in Fahrassistenzsysteme, Erweiterung auf Real-World-Daten, </a:t>
            </a:r>
            <a:r>
              <a:rPr lang="de-DE" sz="2200" dirty="0" err="1">
                <a:solidFill>
                  <a:schemeClr val="tx1">
                    <a:lumMod val="85000"/>
                    <a:lumOff val="15000"/>
                  </a:schemeClr>
                </a:solidFill>
              </a:rPr>
              <a:t>Unsupervised</a:t>
            </a:r>
            <a:r>
              <a:rPr lang="de-DE" sz="2200" dirty="0">
                <a:solidFill>
                  <a:schemeClr val="tx1">
                    <a:lumMod val="85000"/>
                    <a:lumOff val="15000"/>
                  </a:schemeClr>
                </a:solidFill>
              </a:rPr>
              <a:t> Learning (Clustering), und Takeover-</a:t>
            </a:r>
            <a:r>
              <a:rPr lang="de-DE" sz="2200" dirty="0" err="1">
                <a:solidFill>
                  <a:schemeClr val="tx1">
                    <a:lumMod val="85000"/>
                    <a:lumOff val="15000"/>
                  </a:schemeClr>
                </a:solidFill>
              </a:rPr>
              <a:t>Readiness</a:t>
            </a:r>
            <a:r>
              <a:rPr lang="de-DE" sz="2200" dirty="0">
                <a:solidFill>
                  <a:schemeClr val="tx1">
                    <a:lumMod val="85000"/>
                    <a:lumOff val="15000"/>
                  </a:schemeClr>
                </a:solidFill>
              </a:rPr>
              <a:t> für autonomes Fahren.</a:t>
            </a:r>
            <a:br>
              <a:rPr lang="de-DE" sz="2000" dirty="0">
                <a:solidFill>
                  <a:schemeClr val="tx1">
                    <a:lumMod val="85000"/>
                    <a:lumOff val="15000"/>
                  </a:schemeClr>
                </a:solidFill>
              </a:rPr>
            </a:br>
            <a:endParaRPr lang="de-DE" sz="2000" dirty="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liennummernplatzhalter 3">
            <a:extLst>
              <a:ext uri="{FF2B5EF4-FFF2-40B4-BE49-F238E27FC236}">
                <a16:creationId xmlns:a16="http://schemas.microsoft.com/office/drawing/2014/main" id="{8A4F0275-4A1B-421F-5E0B-82022FE7489C}"/>
              </a:ext>
            </a:extLst>
          </p:cNvPr>
          <p:cNvSpPr>
            <a:spLocks noGrp="1"/>
          </p:cNvSpPr>
          <p:nvPr>
            <p:ph type="sldNum" sz="quarter" idx="12"/>
          </p:nvPr>
        </p:nvSpPr>
        <p:spPr/>
        <p:txBody>
          <a:bodyPr/>
          <a:lstStyle/>
          <a:p>
            <a:fld id="{C1E9208F-C39B-4C02-96DE-7FDA3955F0A6}" type="slidenum">
              <a:rPr lang="de-DE" smtClean="0"/>
              <a:t>16</a:t>
            </a:fld>
            <a:endParaRPr lang="de-DE"/>
          </a:p>
        </p:txBody>
      </p:sp>
    </p:spTree>
    <p:extLst>
      <p:ext uri="{BB962C8B-B14F-4D97-AF65-F5344CB8AC3E}">
        <p14:creationId xmlns:p14="http://schemas.microsoft.com/office/powerpoint/2010/main" val="332788073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62DE1313928C4409E244CA565A07308" ma:contentTypeVersion="4" ma:contentTypeDescription="Create a new document." ma:contentTypeScope="" ma:versionID="22109e17828856ae7d01c5fc8edf9cd4">
  <xsd:schema xmlns:xsd="http://www.w3.org/2001/XMLSchema" xmlns:xs="http://www.w3.org/2001/XMLSchema" xmlns:p="http://schemas.microsoft.com/office/2006/metadata/properties" xmlns:ns3="7c5242db-e98b-4b8b-ac42-0cedbe57086f" targetNamespace="http://schemas.microsoft.com/office/2006/metadata/properties" ma:root="true" ma:fieldsID="0f9bfbb5075e516ec328da03588a0752" ns3:_="">
    <xsd:import namespace="7c5242db-e98b-4b8b-ac42-0cedbe57086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5242db-e98b-4b8b-ac42-0cedbe57086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E72003-F64B-4C2C-A07A-1EDC1985BECB}">
  <ds:schemaRefs>
    <ds:schemaRef ds:uri="http://schemas.microsoft.com/office/2006/metadata/properties"/>
    <ds:schemaRef ds:uri="http://purl.org/dc/terms/"/>
    <ds:schemaRef ds:uri="http://purl.org/dc/elements/1.1/"/>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7c5242db-e98b-4b8b-ac42-0cedbe57086f"/>
  </ds:schemaRefs>
</ds:datastoreItem>
</file>

<file path=customXml/itemProps2.xml><?xml version="1.0" encoding="utf-8"?>
<ds:datastoreItem xmlns:ds="http://schemas.openxmlformats.org/officeDocument/2006/customXml" ds:itemID="{965529FA-2282-4142-BEC1-9468990F1647}">
  <ds:schemaRefs>
    <ds:schemaRef ds:uri="http://schemas.microsoft.com/sharepoint/v3/contenttype/forms"/>
  </ds:schemaRefs>
</ds:datastoreItem>
</file>

<file path=customXml/itemProps3.xml><?xml version="1.0" encoding="utf-8"?>
<ds:datastoreItem xmlns:ds="http://schemas.openxmlformats.org/officeDocument/2006/customXml" ds:itemID="{3E4008EE-0CDE-4CFE-9CA5-127F617C00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5242db-e98b-4b8b-ac42-0cedbe5708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2499</Words>
  <Application>Microsoft Office PowerPoint</Application>
  <PresentationFormat>Breitbild</PresentationFormat>
  <Paragraphs>187</Paragraphs>
  <Slides>16</Slides>
  <Notes>16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16</vt:i4>
      </vt:variant>
    </vt:vector>
  </HeadingPairs>
  <TitlesOfParts>
    <vt:vector size="20" baseType="lpstr">
      <vt:lpstr>Aptos</vt:lpstr>
      <vt:lpstr>Aptos Display</vt:lpstr>
      <vt:lpstr>Arial</vt:lpstr>
      <vt:lpstr>Office</vt:lpstr>
      <vt:lpstr>Fahrerzustand-Klassifikation</vt:lpstr>
      <vt:lpstr>Motivation &amp; Problemstellung</vt:lpstr>
      <vt:lpstr>Ziele dieser Arbeit</vt:lpstr>
      <vt:lpstr>Datenerfassung &amp; Modalitäten</vt:lpstr>
      <vt:lpstr>Feature Engineering: 37 Features</vt:lpstr>
      <vt:lpstr>Label-Generierung: Absolute Threshold Labeling</vt:lpstr>
      <vt:lpstr>Label Verteilung</vt:lpstr>
      <vt:lpstr>Modellierung: Random Forest</vt:lpstr>
      <vt:lpstr>Random Forest: Ergebnisse</vt:lpstr>
      <vt:lpstr>Random Forest: Ergebnisse</vt:lpstr>
      <vt:lpstr>Modellierung: LightGBM</vt:lpstr>
      <vt:lpstr>LightGBM: Ergebnisse &amp; Vergleich</vt:lpstr>
      <vt:lpstr>Confusion Matrix &amp; Klassifikation</vt:lpstr>
      <vt:lpstr>Statistische Merkmale: Datenübersicht</vt:lpstr>
      <vt:lpstr>Top Features &amp; Insights</vt:lpstr>
      <vt:lpstr>Zusammenfassung &amp; Ausblick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Güldüz, Burak</dc:creator>
  <cp:lastModifiedBy>Burak Gldz</cp:lastModifiedBy>
  <cp:revision>11</cp:revision>
  <dcterms:created xsi:type="dcterms:W3CDTF">2026-01-22T19:52:23Z</dcterms:created>
  <dcterms:modified xsi:type="dcterms:W3CDTF">2026-01-23T13:44:43Z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0x010100662DE1313928C4409E244CA565A07308</vt:lpwstr>
  </property>
</Properties>
</file>